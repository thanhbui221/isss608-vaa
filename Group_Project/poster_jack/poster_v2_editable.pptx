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2278975" cy="31537275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613" y="-42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U Jiayan" userId="0dade1b4-ff38-45c9-a229-da6c30e6f4a2" providerId="ADAL" clId="{84E72977-DE30-4221-826D-58AFA8691057}"/>
    <pc:docChg chg="undo custSel modSld">
      <pc:chgData name="WU Jiayan" userId="0dade1b4-ff38-45c9-a229-da6c30e6f4a2" providerId="ADAL" clId="{84E72977-DE30-4221-826D-58AFA8691057}" dt="2026-06-27T11:44:15.045" v="30" actId="1036"/>
      <pc:docMkLst>
        <pc:docMk/>
      </pc:docMkLst>
      <pc:sldChg chg="modSp mod">
        <pc:chgData name="WU Jiayan" userId="0dade1b4-ff38-45c9-a229-da6c30e6f4a2" providerId="ADAL" clId="{84E72977-DE30-4221-826D-58AFA8691057}" dt="2026-06-27T11:44:15.045" v="30" actId="1036"/>
        <pc:sldMkLst>
          <pc:docMk/>
          <pc:sldMk cId="1791066363" sldId="256"/>
        </pc:sldMkLst>
        <pc:spChg chg="mod">
          <ac:chgData name="WU Jiayan" userId="0dade1b4-ff38-45c9-a229-da6c30e6f4a2" providerId="ADAL" clId="{84E72977-DE30-4221-826D-58AFA8691057}" dt="2026-06-27T11:43:44.496" v="2" actId="1076"/>
          <ac:spMkLst>
            <pc:docMk/>
            <pc:sldMk cId="1791066363" sldId="256"/>
            <ac:spMk id="277" creationId="{D7FF85D2-7CDF-406F-B0FE-D2355D221144}"/>
          </ac:spMkLst>
        </pc:spChg>
        <pc:spChg chg="mod">
          <ac:chgData name="WU Jiayan" userId="0dade1b4-ff38-45c9-a229-da6c30e6f4a2" providerId="ADAL" clId="{84E72977-DE30-4221-826D-58AFA8691057}" dt="2026-06-27T11:44:15.045" v="30" actId="1036"/>
          <ac:spMkLst>
            <pc:docMk/>
            <pc:sldMk cId="1791066363" sldId="256"/>
            <ac:spMk id="287" creationId="{F8B54FF9-0C64-4851-AC21-08F3307ABB77}"/>
          </ac:spMkLst>
        </pc:spChg>
        <pc:spChg chg="mod">
          <ac:chgData name="WU Jiayan" userId="0dade1b4-ff38-45c9-a229-da6c30e6f4a2" providerId="ADAL" clId="{84E72977-DE30-4221-826D-58AFA8691057}" dt="2026-06-27T11:43:39.716" v="0" actId="1076"/>
          <ac:spMkLst>
            <pc:docMk/>
            <pc:sldMk cId="1791066363" sldId="256"/>
            <ac:spMk id="297" creationId="{45AF16E0-AD0F-4A8D-A01B-319D1EB824E0}"/>
          </ac:spMkLst>
        </pc:spChg>
        <pc:spChg chg="mod">
          <ac:chgData name="WU Jiayan" userId="0dade1b4-ff38-45c9-a229-da6c30e6f4a2" providerId="ADAL" clId="{84E72977-DE30-4221-826D-58AFA8691057}" dt="2026-06-27T11:44:04.906" v="19" actId="1036"/>
          <ac:spMkLst>
            <pc:docMk/>
            <pc:sldMk cId="1791066363" sldId="256"/>
            <ac:spMk id="307" creationId="{02EEB260-22D4-4AC0-849E-1C5DA576A3F0}"/>
          </ac:spMkLst>
        </pc:spChg>
        <pc:spChg chg="mod">
          <ac:chgData name="WU Jiayan" userId="0dade1b4-ff38-45c9-a229-da6c30e6f4a2" providerId="ADAL" clId="{84E72977-DE30-4221-826D-58AFA8691057}" dt="2026-06-27T11:43:52.829" v="5" actId="1076"/>
          <ac:spMkLst>
            <pc:docMk/>
            <pc:sldMk cId="1791066363" sldId="256"/>
            <ac:spMk id="308" creationId="{9497AFA6-F5CF-4D91-BAC2-2CB7628B6721}"/>
          </ac:spMkLst>
        </pc:spChg>
        <pc:spChg chg="mod">
          <ac:chgData name="WU Jiayan" userId="0dade1b4-ff38-45c9-a229-da6c30e6f4a2" providerId="ADAL" clId="{84E72977-DE30-4221-826D-58AFA8691057}" dt="2026-06-27T11:43:56.026" v="6" actId="1076"/>
          <ac:spMkLst>
            <pc:docMk/>
            <pc:sldMk cId="1791066363" sldId="256"/>
            <ac:spMk id="317" creationId="{C4C25B0E-7426-4915-9C9B-5F71430A06A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Rectangle 575">
            <a:extLst>
              <a:ext uri="{FF2B5EF4-FFF2-40B4-BE49-F238E27FC236}">
                <a16:creationId xmlns:a16="http://schemas.microsoft.com/office/drawing/2014/main" id="{1812C7E6-BEE6-465A-8344-77885456A4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278975" cy="2381250"/>
          </a:xfrm>
          <a:prstGeom prst="rect">
            <a:avLst/>
          </a:prstGeom>
          <a:gradFill>
            <a:gsLst>
              <a:gs pos="0">
                <a:srgbClr val="0B1622"/>
              </a:gs>
              <a:gs pos="55000">
                <a:srgbClr val="13263C"/>
              </a:gs>
              <a:gs pos="100000">
                <a:srgbClr val="1C3A5E"/>
              </a:gs>
            </a:gsLst>
            <a:lin ang="6600000"/>
          </a:gra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F117D43-E15A-40CB-BA7F-95435031A594}"/>
              </a:ext>
            </a:extLst>
          </p:cNvPr>
          <p:cNvSpPr>
            <a:spLocks noGrp="1"/>
          </p:cNvSpPr>
          <p:nvPr/>
        </p:nvSpPr>
        <p:spPr>
          <a:xfrm>
            <a:off x="19135725" y="-1238250"/>
            <a:ext cx="4572000" cy="4572000"/>
          </a:xfrm>
          <a:prstGeom prst="ellipse">
            <a:avLst/>
          </a:prstGeom>
          <a:gradFill>
            <a:gsLst>
              <a:gs pos="0">
                <a:srgbClr val="3B82F6">
                  <a:alpha val="30196"/>
                </a:srgbClr>
              </a:gs>
              <a:gs pos="70000">
                <a:srgbClr val="3B82F6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195C6CF-C4B7-44F4-A5CD-EC466375EB65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704850" cy="390525"/>
          </a:xfrm>
          <a:prstGeom prst="roundRect">
            <a:avLst>
              <a:gd name="adj" fmla="val 21951"/>
            </a:avLst>
          </a:prstGeom>
          <a:solidFill>
            <a:srgbClr val="2F6FED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64ABFE-6403-4D89-BE5C-10B0E4B0ACCC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7048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575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MC1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91410A-532F-4694-A6B3-38D942426E27}"/>
              </a:ext>
            </a:extLst>
          </p:cNvPr>
          <p:cNvSpPr>
            <a:spLocks noGrp="1"/>
          </p:cNvSpPr>
          <p:nvPr/>
        </p:nvSpPr>
        <p:spPr>
          <a:xfrm>
            <a:off x="1390650" y="40005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9FC1F0"/>
                </a:solidFill>
                <a:latin typeface="DM Sans"/>
                <a:ea typeface="DM Sans"/>
                <a:cs typeface="DM Sans"/>
              </a:defRPr>
            </a:pPr>
            <a:r>
              <a:rPr sz="1350" b="1" i="0">
                <a:solidFill>
                  <a:srgbClr val="9FC1F0"/>
                </a:solidFill>
                <a:latin typeface="DM Sans"/>
                <a:ea typeface="DM Sans"/>
                <a:cs typeface="DM Sans"/>
              </a:rPr>
              <a:t>VAST Challenge 2026 · Mini-Challenge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DB7F62-783E-4A88-8B9D-00A375EB16E4}"/>
              </a:ext>
            </a:extLst>
          </p:cNvPr>
          <p:cNvSpPr>
            <a:spLocks noGrp="1"/>
          </p:cNvSpPr>
          <p:nvPr/>
        </p:nvSpPr>
        <p:spPr>
          <a:xfrm>
            <a:off x="15668625" y="342900"/>
            <a:ext cx="6076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75" b="1" i="0">
                <a:solidFill>
                  <a:srgbClr val="BCD0E6"/>
                </a:solidFill>
                <a:latin typeface="DM Sans"/>
                <a:ea typeface="DM Sans"/>
                <a:cs typeface="DM Sans"/>
              </a:defRPr>
            </a:pPr>
            <a:r>
              <a:rPr sz="1275" b="1" i="0">
                <a:solidFill>
                  <a:srgbClr val="BCD0E6"/>
                </a:solidFill>
                <a:latin typeface="DM Sans"/>
                <a:ea typeface="DM Sans"/>
                <a:cs typeface="DM Sans"/>
              </a:rPr>
              <a:t>ISSS608 Visual Analytics &amp; Applications  ·  Singapore Management University</a:t>
            </a:r>
          </a:p>
          <a:p>
            <a:pPr algn="r">
              <a:lnSpc>
                <a:spcPct val="115000"/>
              </a:lnSpc>
              <a:buNone/>
              <a:defRPr sz="1275" b="1" i="0">
                <a:solidFill>
                  <a:srgbClr val="BCD0E6"/>
                </a:solidFill>
                <a:latin typeface="DM Sans"/>
                <a:ea typeface="DM Sans"/>
                <a:cs typeface="DM Sans"/>
              </a:defRPr>
            </a:pPr>
            <a:r>
              <a:rPr sz="1275" b="1" i="0">
                <a:solidFill>
                  <a:srgbClr val="BCD0E6"/>
                </a:solidFill>
                <a:latin typeface="DM Sans"/>
                <a:ea typeface="DM Sans"/>
                <a:cs typeface="DM Sans"/>
              </a:rPr>
              <a:t>Group: BUI Tien Thanh  ·  HU Yue  ·  WU Jiayan  · 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A0BBC2-CFD1-4727-AAD7-B993D72B8555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428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384"/>
          </a:bodyPr>
          <a:lstStyle/>
          <a:p>
            <a:pPr algn="l">
              <a:lnSpc>
                <a:spcPct val="100000"/>
              </a:lnSpc>
              <a:buNone/>
              <a:defRPr sz="495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495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Investigation of an Embargo Breach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15CB69-6796-4528-9801-B5F06604831D}"/>
              </a:ext>
            </a:extLst>
          </p:cNvPr>
          <p:cNvSpPr>
            <a:spLocks noGrp="1"/>
          </p:cNvSpPr>
          <p:nvPr/>
        </p:nvSpPr>
        <p:spPr>
          <a:xfrm>
            <a:off x="533400" y="1685925"/>
            <a:ext cx="16811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800" b="1" i="0">
                <a:solidFill>
                  <a:srgbClr val="CFE0F2"/>
                </a:solidFill>
                <a:latin typeface="DM Sans"/>
                <a:ea typeface="DM Sans"/>
                <a:cs typeface="DM Sans"/>
              </a:defRPr>
            </a:pPr>
            <a:r>
              <a:rPr sz="1800" b="1" i="0">
                <a:solidFill>
                  <a:srgbClr val="CFE0F2"/>
                </a:solidFill>
                <a:latin typeface="DM Sans"/>
                <a:ea typeface="DM Sans"/>
                <a:cs typeface="DM Sans"/>
              </a:rPr>
              <a:t>Visual analytics on a seven-agent AI organisation — distinguishing a deliberate merger leak from a compliance system that broke down under pressure.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65CDDF-8A5C-4B0F-A899-ACFE4B838C83}"/>
              </a:ext>
            </a:extLst>
          </p:cNvPr>
          <p:cNvSpPr>
            <a:spLocks noGrp="1"/>
          </p:cNvSpPr>
          <p:nvPr/>
        </p:nvSpPr>
        <p:spPr>
          <a:xfrm>
            <a:off x="533400" y="2647950"/>
            <a:ext cx="10239375" cy="1581150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39CA6A-B82A-4E1B-A628-71AFAFB83027}"/>
              </a:ext>
            </a:extLst>
          </p:cNvPr>
          <p:cNvSpPr>
            <a:spLocks noGrp="1"/>
          </p:cNvSpPr>
          <p:nvPr/>
        </p:nvSpPr>
        <p:spPr>
          <a:xfrm>
            <a:off x="800100" y="2895600"/>
            <a:ext cx="295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2563EB"/>
                </a:solidFill>
                <a:latin typeface="DM Sans"/>
                <a:ea typeface="DM Sans"/>
                <a:cs typeface="DM Sans"/>
              </a:defRPr>
            </a:pPr>
            <a:r>
              <a:rPr sz="1200" b="1" i="0">
                <a:solidFill>
                  <a:srgbClr val="2563EB"/>
                </a:solidFill>
                <a:latin typeface="DM Sans"/>
                <a:ea typeface="DM Sans"/>
                <a:cs typeface="DM Sans"/>
              </a:rPr>
              <a:t>THE CENTRAL QUESTION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296899-2221-4CAD-A1F3-00D26E557800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96012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516"/>
          </a:bodyPr>
          <a:lstStyle/>
          <a:p>
            <a:pPr algn="l">
              <a:lnSpc>
                <a:spcPct val="118000"/>
              </a:lnSpc>
              <a:buNone/>
              <a:defRPr sz="1500" b="0" i="0">
                <a:solidFill>
                  <a:srgbClr val="1E293B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1E293B"/>
                </a:solidFill>
                <a:latin typeface="DM Sans"/>
                <a:ea typeface="DM Sans"/>
                <a:cs typeface="DM Sans"/>
              </a:rPr>
              <a:t>On 5 June 2046, the confidential TenantThread–CivicLoom merger ("Project HarborCrest") surfaced publicly at 5:00 PM — one hour before the contractual 6:00 PM embargo lift. Was it a deliberate leak, or did the AI compliance system simply fail under pressure?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10F96F2-7C19-465A-B38A-C3F308DF748F}"/>
              </a:ext>
            </a:extLst>
          </p:cNvPr>
          <p:cNvSpPr>
            <a:spLocks noGrp="1"/>
          </p:cNvSpPr>
          <p:nvPr/>
        </p:nvSpPr>
        <p:spPr>
          <a:xfrm>
            <a:off x="11001375" y="2647950"/>
            <a:ext cx="10744200" cy="1581150"/>
          </a:xfrm>
          <a:prstGeom prst="roundRect">
            <a:avLst>
              <a:gd name="adj" fmla="val 8434"/>
            </a:avLst>
          </a:prstGeom>
          <a:gradFill>
            <a:gsLst>
              <a:gs pos="0">
                <a:srgbClr val="0F1F33"/>
              </a:gs>
              <a:gs pos="100000">
                <a:srgbClr val="1B3A5E"/>
              </a:gs>
            </a:gsLst>
            <a:lin ang="8100000"/>
          </a:gra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AE4DBB-6F4B-4E40-BBF5-60377028DBFF}"/>
              </a:ext>
            </a:extLst>
          </p:cNvPr>
          <p:cNvSpPr>
            <a:spLocks noGrp="1"/>
          </p:cNvSpPr>
          <p:nvPr/>
        </p:nvSpPr>
        <p:spPr>
          <a:xfrm>
            <a:off x="11268075" y="28956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7FB0EF"/>
                </a:solidFill>
                <a:latin typeface="DM Sans"/>
                <a:ea typeface="DM Sans"/>
                <a:cs typeface="DM Sans"/>
              </a:defRPr>
            </a:pPr>
            <a:r>
              <a:rPr sz="1200" b="1" i="0">
                <a:solidFill>
                  <a:srgbClr val="7FB0EF"/>
                </a:solidFill>
                <a:latin typeface="DM Sans"/>
                <a:ea typeface="DM Sans"/>
                <a:cs typeface="DM Sans"/>
              </a:rPr>
              <a:t>VERDICT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621380-BC2F-47F0-833D-E26ED38F556D}"/>
              </a:ext>
            </a:extLst>
          </p:cNvPr>
          <p:cNvSpPr>
            <a:spLocks noGrp="1"/>
          </p:cNvSpPr>
          <p:nvPr/>
        </p:nvSpPr>
        <p:spPr>
          <a:xfrm>
            <a:off x="11268075" y="3219450"/>
            <a:ext cx="962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8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System breakdown enabled a deliberate early announcement.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091001-5ACA-4BE6-8579-DF3559738436}"/>
              </a:ext>
            </a:extLst>
          </p:cNvPr>
          <p:cNvSpPr>
            <a:spLocks noGrp="1"/>
          </p:cNvSpPr>
          <p:nvPr/>
        </p:nvSpPr>
        <p:spPr>
          <a:xfrm>
            <a:off x="11268075" y="3638550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567"/>
          </a:bodyPr>
          <a:lstStyle/>
          <a:p>
            <a:pPr algn="l">
              <a:lnSpc>
                <a:spcPct val="115000"/>
              </a:lnSpc>
              <a:buNone/>
              <a:defRPr sz="1350" b="0" i="0">
                <a:solidFill>
                  <a:srgbClr val="CFE0F2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CFE0F2"/>
                </a:solidFill>
                <a:latin typeface="DM Sans"/>
                <a:ea typeface="DM Sans"/>
                <a:cs typeface="DM Sans"/>
              </a:rPr>
              <a:t>The compliance architecture failed first — then senior agents engineered a pre-planned release under Section 4.3(c) with bilateral consent, an hour early. Not either/or: the explanations are sequential.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BF6FD2F-BD70-46AF-9A40-3F0A98BC320E}"/>
              </a:ext>
            </a:extLst>
          </p:cNvPr>
          <p:cNvSpPr>
            <a:spLocks noGrp="1"/>
          </p:cNvSpPr>
          <p:nvPr/>
        </p:nvSpPr>
        <p:spPr>
          <a:xfrm>
            <a:off x="533400" y="4505325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E24B4A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6833F3-FAE1-4DAD-95F7-8F3B323E9AD0}"/>
              </a:ext>
            </a:extLst>
          </p:cNvPr>
          <p:cNvSpPr>
            <a:spLocks noGrp="1"/>
          </p:cNvSpPr>
          <p:nvPr/>
        </p:nvSpPr>
        <p:spPr>
          <a:xfrm>
            <a:off x="533400" y="451485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65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79F767-C7CE-4966-BEFF-EA2984B50FCE}"/>
              </a:ext>
            </a:extLst>
          </p:cNvPr>
          <p:cNvSpPr>
            <a:spLocks noGrp="1"/>
          </p:cNvSpPr>
          <p:nvPr/>
        </p:nvSpPr>
        <p:spPr>
          <a:xfrm>
            <a:off x="1066800" y="45339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1E293B"/>
                </a:solidFill>
                <a:latin typeface="DM Sans"/>
                <a:ea typeface="DM Sans"/>
                <a:cs typeface="DM Sans"/>
              </a:defRPr>
            </a:pPr>
            <a:r>
              <a:rPr sz="2250" b="1" i="0">
                <a:solidFill>
                  <a:srgbClr val="1E293B"/>
                </a:solidFill>
                <a:latin typeface="DM Sans"/>
                <a:ea typeface="DM Sans"/>
                <a:cs typeface="DM Sans"/>
              </a:rPr>
              <a:t>Issues &amp; Problems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DDA307F-BE77-4F24-972A-EA8F34FBC794}"/>
              </a:ext>
            </a:extLst>
          </p:cNvPr>
          <p:cNvSpPr>
            <a:spLocks noGrp="1"/>
          </p:cNvSpPr>
          <p:nvPr/>
        </p:nvSpPr>
        <p:spPr>
          <a:xfrm>
            <a:off x="533400" y="5019675"/>
            <a:ext cx="10477500" cy="228600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21814-DC3C-4D1A-A4A3-C0CECBC49148}"/>
              </a:ext>
            </a:extLst>
          </p:cNvPr>
          <p:cNvSpPr>
            <a:spLocks noGrp="1"/>
          </p:cNvSpPr>
          <p:nvPr/>
        </p:nvSpPr>
        <p:spPr>
          <a:xfrm>
            <a:off x="533400" y="5019675"/>
            <a:ext cx="10477500" cy="57150"/>
          </a:xfrm>
          <a:prstGeom prst="rect">
            <a:avLst/>
          </a:prstGeom>
          <a:solidFill>
            <a:srgbClr val="E24B4A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54BE82E-3D51-41D8-ACC1-D7B268918808}"/>
              </a:ext>
            </a:extLst>
          </p:cNvPr>
          <p:cNvSpPr>
            <a:spLocks noGrp="1"/>
          </p:cNvSpPr>
          <p:nvPr/>
        </p:nvSpPr>
        <p:spPr>
          <a:xfrm>
            <a:off x="838200" y="5429250"/>
            <a:ext cx="104775" cy="104775"/>
          </a:xfrm>
          <a:prstGeom prst="ellipse">
            <a:avLst/>
          </a:prstGeom>
          <a:solidFill>
            <a:srgbClr val="E24B4A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742C40-5F37-449E-AE99-BF6BFA37AA07}"/>
              </a:ext>
            </a:extLst>
          </p:cNvPr>
          <p:cNvSpPr>
            <a:spLocks noGrp="1"/>
          </p:cNvSpPr>
          <p:nvPr/>
        </p:nvSpPr>
        <p:spPr>
          <a:xfrm>
            <a:off x="1104900" y="5334000"/>
            <a:ext cx="9544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388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388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Attribute an information breach inside a multi-agent AI org — who acted, when, on which channel, and with what intent.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F0B346B-904C-4D21-ADEA-2A4477DED598}"/>
              </a:ext>
            </a:extLst>
          </p:cNvPr>
          <p:cNvSpPr>
            <a:spLocks noGrp="1"/>
          </p:cNvSpPr>
          <p:nvPr/>
        </p:nvSpPr>
        <p:spPr>
          <a:xfrm>
            <a:off x="838200" y="5857875"/>
            <a:ext cx="104775" cy="104775"/>
          </a:xfrm>
          <a:prstGeom prst="ellipse">
            <a:avLst/>
          </a:prstGeom>
          <a:solidFill>
            <a:srgbClr val="E24B4A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E8113B-AAA5-4F5F-B288-77099D0CF81D}"/>
              </a:ext>
            </a:extLst>
          </p:cNvPr>
          <p:cNvSpPr>
            <a:spLocks noGrp="1"/>
          </p:cNvSpPr>
          <p:nvPr/>
        </p:nvSpPr>
        <p:spPr>
          <a:xfrm>
            <a:off x="1104900" y="5762625"/>
            <a:ext cx="9544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388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388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Separate two look-alike explanations: a deliberate leak vs. a system overwhelmed by crisis.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05EBD73-D1E4-42BE-89E4-2D00BA74A05B}"/>
              </a:ext>
            </a:extLst>
          </p:cNvPr>
          <p:cNvSpPr>
            <a:spLocks noGrp="1"/>
          </p:cNvSpPr>
          <p:nvPr/>
        </p:nvSpPr>
        <p:spPr>
          <a:xfrm>
            <a:off x="838200" y="6286500"/>
            <a:ext cx="104775" cy="104775"/>
          </a:xfrm>
          <a:prstGeom prst="ellipse">
            <a:avLst/>
          </a:prstGeom>
          <a:solidFill>
            <a:srgbClr val="E24B4A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939A96-EB7C-474B-A95B-E5BD9F2E7AF7}"/>
              </a:ext>
            </a:extLst>
          </p:cNvPr>
          <p:cNvSpPr>
            <a:spLocks noGrp="1"/>
          </p:cNvSpPr>
          <p:nvPr/>
        </p:nvSpPr>
        <p:spPr>
          <a:xfrm>
            <a:off x="1104900" y="6191250"/>
            <a:ext cx="9544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568"/>
          </a:bodyPr>
          <a:lstStyle/>
          <a:p>
            <a:pPr algn="l">
              <a:lnSpc>
                <a:spcPct val="118000"/>
              </a:lnSpc>
              <a:buNone/>
              <a:defRPr sz="1388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388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Evidence is nested, unstructured &amp; sparse — 912 messages, 23 rounds, 7 agents, 6 channels; private reasoning logged for only 86 messages.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99DE71A-528C-4810-BEDE-634302AFD3C9}"/>
              </a:ext>
            </a:extLst>
          </p:cNvPr>
          <p:cNvSpPr>
            <a:spLocks noGrp="1"/>
          </p:cNvSpPr>
          <p:nvPr/>
        </p:nvSpPr>
        <p:spPr>
          <a:xfrm>
            <a:off x="838200" y="6715125"/>
            <a:ext cx="104775" cy="104775"/>
          </a:xfrm>
          <a:prstGeom prst="ellipse">
            <a:avLst/>
          </a:prstGeom>
          <a:solidFill>
            <a:srgbClr val="E24B4A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3E36145-688E-47E2-9D3B-BCE277AD60DC}"/>
              </a:ext>
            </a:extLst>
          </p:cNvPr>
          <p:cNvSpPr>
            <a:spLocks noGrp="1"/>
          </p:cNvSpPr>
          <p:nvPr/>
        </p:nvSpPr>
        <p:spPr>
          <a:xfrm>
            <a:off x="1104900" y="6619875"/>
            <a:ext cx="9544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388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388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Explain why prior warning signals never triggered action from the compliance monitor.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1B97A16-5285-46CB-9EA3-BB040E441364}"/>
              </a:ext>
            </a:extLst>
          </p:cNvPr>
          <p:cNvSpPr>
            <a:spLocks noGrp="1"/>
          </p:cNvSpPr>
          <p:nvPr/>
        </p:nvSpPr>
        <p:spPr>
          <a:xfrm>
            <a:off x="11268075" y="4505325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14EDE3F-0A0B-4756-92C4-3FF99ADE4CCE}"/>
              </a:ext>
            </a:extLst>
          </p:cNvPr>
          <p:cNvSpPr>
            <a:spLocks noGrp="1"/>
          </p:cNvSpPr>
          <p:nvPr/>
        </p:nvSpPr>
        <p:spPr>
          <a:xfrm>
            <a:off x="11268075" y="451485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65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BC645B-4E49-407A-91FA-4B6922F67628}"/>
              </a:ext>
            </a:extLst>
          </p:cNvPr>
          <p:cNvSpPr>
            <a:spLocks noGrp="1"/>
          </p:cNvSpPr>
          <p:nvPr/>
        </p:nvSpPr>
        <p:spPr>
          <a:xfrm>
            <a:off x="11801475" y="45339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1E293B"/>
                </a:solidFill>
                <a:latin typeface="DM Sans"/>
                <a:ea typeface="DM Sans"/>
                <a:cs typeface="DM Sans"/>
              </a:defRPr>
            </a:pPr>
            <a:r>
              <a:rPr sz="2250" b="1" i="0">
                <a:solidFill>
                  <a:srgbClr val="1E293B"/>
                </a:solidFill>
                <a:latin typeface="DM Sans"/>
                <a:ea typeface="DM Sans"/>
                <a:cs typeface="DM Sans"/>
              </a:rPr>
              <a:t>Motivation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6AD699C-C3BA-4938-9633-7155843A76C5}"/>
              </a:ext>
            </a:extLst>
          </p:cNvPr>
          <p:cNvSpPr>
            <a:spLocks noGrp="1"/>
          </p:cNvSpPr>
          <p:nvPr/>
        </p:nvSpPr>
        <p:spPr>
          <a:xfrm>
            <a:off x="11268075" y="5019675"/>
            <a:ext cx="10477500" cy="228600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SG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ECA6235-0EF2-4E7C-80D3-400232DA31E8}"/>
              </a:ext>
            </a:extLst>
          </p:cNvPr>
          <p:cNvSpPr>
            <a:spLocks noGrp="1"/>
          </p:cNvSpPr>
          <p:nvPr/>
        </p:nvSpPr>
        <p:spPr>
          <a:xfrm>
            <a:off x="11268075" y="5019675"/>
            <a:ext cx="10477500" cy="571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1781F50-3F47-4AA6-882A-24CFD7374847}"/>
              </a:ext>
            </a:extLst>
          </p:cNvPr>
          <p:cNvSpPr>
            <a:spLocks noGrp="1"/>
          </p:cNvSpPr>
          <p:nvPr/>
        </p:nvSpPr>
        <p:spPr>
          <a:xfrm>
            <a:off x="11572875" y="5429250"/>
            <a:ext cx="104775" cy="104775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FFA6237-8389-420A-9D6B-3D9CADA121D3}"/>
              </a:ext>
            </a:extLst>
          </p:cNvPr>
          <p:cNvSpPr>
            <a:spLocks noGrp="1"/>
          </p:cNvSpPr>
          <p:nvPr/>
        </p:nvSpPr>
        <p:spPr>
          <a:xfrm>
            <a:off x="11839575" y="5334000"/>
            <a:ext cx="94964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64"/>
          </a:bodyPr>
          <a:lstStyle/>
          <a:p>
            <a:pPr algn="l">
              <a:lnSpc>
                <a:spcPct val="118000"/>
              </a:lnSpc>
              <a:buNone/>
              <a:defRPr sz="1388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388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AI accountability: as organisations delegate compliance to AI agents, how they fail under pressure is a governance &amp; regulatory priority.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1221599-E135-4CDE-97B8-3F25FA8D9B43}"/>
              </a:ext>
            </a:extLst>
          </p:cNvPr>
          <p:cNvSpPr>
            <a:spLocks noGrp="1"/>
          </p:cNvSpPr>
          <p:nvPr/>
        </p:nvSpPr>
        <p:spPr>
          <a:xfrm>
            <a:off x="11572875" y="5857875"/>
            <a:ext cx="104775" cy="104775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E78D584-8643-49BB-A789-CF5897B91D44}"/>
              </a:ext>
            </a:extLst>
          </p:cNvPr>
          <p:cNvSpPr>
            <a:spLocks noGrp="1"/>
          </p:cNvSpPr>
          <p:nvPr/>
        </p:nvSpPr>
        <p:spPr>
          <a:xfrm>
            <a:off x="11839575" y="5762625"/>
            <a:ext cx="94964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388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388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The answer changes the remedy — discipline vs. process redesign — with real legal consequences.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DFF5FF2-D784-46A6-9D3B-9909AE88AA87}"/>
              </a:ext>
            </a:extLst>
          </p:cNvPr>
          <p:cNvSpPr>
            <a:spLocks noGrp="1"/>
          </p:cNvSpPr>
          <p:nvPr/>
        </p:nvSpPr>
        <p:spPr>
          <a:xfrm>
            <a:off x="11572875" y="6286500"/>
            <a:ext cx="104775" cy="104775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9F6283E-6891-4366-9463-B67ACE2F9F26}"/>
              </a:ext>
            </a:extLst>
          </p:cNvPr>
          <p:cNvSpPr>
            <a:spLocks noGrp="1"/>
          </p:cNvSpPr>
          <p:nvPr/>
        </p:nvSpPr>
        <p:spPr>
          <a:xfrm>
            <a:off x="11839575" y="6191250"/>
            <a:ext cx="94964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003"/>
          </a:bodyPr>
          <a:lstStyle/>
          <a:p>
            <a:pPr algn="l">
              <a:lnSpc>
                <a:spcPct val="118000"/>
              </a:lnSpc>
              <a:buNone/>
              <a:defRPr sz="1388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388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Intent is hidden: the same surface signals (more messages, more private channels) fit both stories — only sequence + private reasoning tell them apart.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18A1227-F632-44C5-8B7D-5AB042E6E525}"/>
              </a:ext>
            </a:extLst>
          </p:cNvPr>
          <p:cNvSpPr>
            <a:spLocks noGrp="1"/>
          </p:cNvSpPr>
          <p:nvPr/>
        </p:nvSpPr>
        <p:spPr>
          <a:xfrm>
            <a:off x="11572875" y="6715125"/>
            <a:ext cx="104775" cy="104775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F3D54BC-62D2-4CE0-A73A-9B3CD9AC1FB6}"/>
              </a:ext>
            </a:extLst>
          </p:cNvPr>
          <p:cNvSpPr>
            <a:spLocks noGrp="1"/>
          </p:cNvSpPr>
          <p:nvPr/>
        </p:nvSpPr>
        <p:spPr>
          <a:xfrm>
            <a:off x="11839575" y="6619875"/>
            <a:ext cx="94964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388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388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Signal hides in unmonitored channels, invisible to the very control meant to catch it.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7B648DA-8DD5-45CA-8A51-6C6CAF07469A}"/>
              </a:ext>
            </a:extLst>
          </p:cNvPr>
          <p:cNvSpPr>
            <a:spLocks noGrp="1"/>
          </p:cNvSpPr>
          <p:nvPr/>
        </p:nvSpPr>
        <p:spPr>
          <a:xfrm>
            <a:off x="533400" y="7543800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0D9E6E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ADB3C7A-67C5-43C6-8AE9-96842662C4EB}"/>
              </a:ext>
            </a:extLst>
          </p:cNvPr>
          <p:cNvSpPr>
            <a:spLocks noGrp="1"/>
          </p:cNvSpPr>
          <p:nvPr/>
        </p:nvSpPr>
        <p:spPr>
          <a:xfrm>
            <a:off x="533400" y="7553325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65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A87A1A3-5994-4E4F-9091-BFC0A81C9E13}"/>
              </a:ext>
            </a:extLst>
          </p:cNvPr>
          <p:cNvSpPr>
            <a:spLocks noGrp="1"/>
          </p:cNvSpPr>
          <p:nvPr/>
        </p:nvSpPr>
        <p:spPr>
          <a:xfrm>
            <a:off x="1066800" y="7572375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1E293B"/>
                </a:solidFill>
                <a:latin typeface="DM Sans"/>
                <a:ea typeface="DM Sans"/>
                <a:cs typeface="DM Sans"/>
              </a:defRPr>
            </a:pPr>
            <a:r>
              <a:rPr sz="2250" b="1" i="0">
                <a:solidFill>
                  <a:srgbClr val="1E293B"/>
                </a:solidFill>
                <a:latin typeface="DM Sans"/>
                <a:ea typeface="DM Sans"/>
                <a:cs typeface="DM Sans"/>
              </a:rPr>
              <a:t>Approach — Techniques &amp; Algorithms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A2A8C5F-BF12-45EF-809E-4BC2BEEAD39D}"/>
              </a:ext>
            </a:extLst>
          </p:cNvPr>
          <p:cNvSpPr>
            <a:spLocks noGrp="1"/>
          </p:cNvSpPr>
          <p:nvPr/>
        </p:nvSpPr>
        <p:spPr>
          <a:xfrm>
            <a:off x="533400" y="8096250"/>
            <a:ext cx="21212175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SG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376C787-59D6-4F62-8F0B-10EB003617DB}"/>
              </a:ext>
            </a:extLst>
          </p:cNvPr>
          <p:cNvSpPr>
            <a:spLocks noGrp="1"/>
          </p:cNvSpPr>
          <p:nvPr/>
        </p:nvSpPr>
        <p:spPr>
          <a:xfrm>
            <a:off x="781050" y="8305800"/>
            <a:ext cx="4914900" cy="1362075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3DF31CB7-8141-4E55-A209-8DEC24168CA2}"/>
              </a:ext>
            </a:extLst>
          </p:cNvPr>
          <p:cNvSpPr>
            <a:spLocks noGrp="1"/>
          </p:cNvSpPr>
          <p:nvPr/>
        </p:nvSpPr>
        <p:spPr>
          <a:xfrm>
            <a:off x="781050" y="8305800"/>
            <a:ext cx="4914900" cy="495300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918EFD1-BBBD-4D4E-9EE6-F35CA2D341A3}"/>
              </a:ext>
            </a:extLst>
          </p:cNvPr>
          <p:cNvSpPr>
            <a:spLocks noGrp="1"/>
          </p:cNvSpPr>
          <p:nvPr/>
        </p:nvSpPr>
        <p:spPr>
          <a:xfrm>
            <a:off x="914400" y="8429625"/>
            <a:ext cx="247650" cy="247650"/>
          </a:xfrm>
          <a:prstGeom prst="ellipse">
            <a:avLst/>
          </a:prstGeom>
          <a:solidFill>
            <a:srgbClr val="FFFFFF">
              <a:alpha val="27059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59EBFE1-9E4F-4BEF-82AD-CB616AAC061C}"/>
              </a:ext>
            </a:extLst>
          </p:cNvPr>
          <p:cNvSpPr>
            <a:spLocks noGrp="1"/>
          </p:cNvSpPr>
          <p:nvPr/>
        </p:nvSpPr>
        <p:spPr>
          <a:xfrm>
            <a:off x="914400" y="8448675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125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E2B2591-9A49-4FBC-8688-54E010495722}"/>
              </a:ext>
            </a:extLst>
          </p:cNvPr>
          <p:cNvSpPr>
            <a:spLocks noGrp="1"/>
          </p:cNvSpPr>
          <p:nvPr/>
        </p:nvSpPr>
        <p:spPr>
          <a:xfrm>
            <a:off x="1276350" y="842010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275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Data Preparation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69CDF71-B465-4041-8612-2F60C60EB3FB}"/>
              </a:ext>
            </a:extLst>
          </p:cNvPr>
          <p:cNvSpPr>
            <a:spLocks noGrp="1"/>
          </p:cNvSpPr>
          <p:nvPr/>
        </p:nvSpPr>
        <p:spPr>
          <a:xfrm>
            <a:off x="914400" y="8953500"/>
            <a:ext cx="46482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00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200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jsonlite parses nested JSON → 4 tidy tables (rounds/env, communications, internal_state, agents). Periods: Normal · Escalation · Crisis.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62BDDAF-8243-4B3A-A75D-8FE572279538}"/>
              </a:ext>
            </a:extLst>
          </p:cNvPr>
          <p:cNvSpPr>
            <a:spLocks noGrp="1"/>
          </p:cNvSpPr>
          <p:nvPr/>
        </p:nvSpPr>
        <p:spPr>
          <a:xfrm>
            <a:off x="5962650" y="8305800"/>
            <a:ext cx="4914900" cy="1362075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14288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2ED9DBF3-6D80-4210-9442-BA9937CE7128}"/>
              </a:ext>
            </a:extLst>
          </p:cNvPr>
          <p:cNvSpPr>
            <a:spLocks noGrp="1"/>
          </p:cNvSpPr>
          <p:nvPr/>
        </p:nvSpPr>
        <p:spPr>
          <a:xfrm>
            <a:off x="5962650" y="8305800"/>
            <a:ext cx="4914900" cy="495300"/>
          </a:xfrm>
          <a:prstGeom prst="roundRect">
            <a:avLst>
              <a:gd name="adj" fmla="val 0"/>
            </a:avLst>
          </a:prstGeom>
          <a:solidFill>
            <a:srgbClr val="0D9488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E29C2CF-704B-481B-8A05-8136D96DD09F}"/>
              </a:ext>
            </a:extLst>
          </p:cNvPr>
          <p:cNvSpPr>
            <a:spLocks noGrp="1"/>
          </p:cNvSpPr>
          <p:nvPr/>
        </p:nvSpPr>
        <p:spPr>
          <a:xfrm>
            <a:off x="6096000" y="8429625"/>
            <a:ext cx="247650" cy="247650"/>
          </a:xfrm>
          <a:prstGeom prst="ellipse">
            <a:avLst/>
          </a:prstGeom>
          <a:solidFill>
            <a:srgbClr val="FFFFFF">
              <a:alpha val="27059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3854924-32B4-48C4-BA8E-80A970BC91A1}"/>
              </a:ext>
            </a:extLst>
          </p:cNvPr>
          <p:cNvSpPr>
            <a:spLocks noGrp="1"/>
          </p:cNvSpPr>
          <p:nvPr/>
        </p:nvSpPr>
        <p:spPr>
          <a:xfrm>
            <a:off x="6096000" y="8448675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125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2CE29E9-3A55-4882-A27B-E73BC74C46FC}"/>
              </a:ext>
            </a:extLst>
          </p:cNvPr>
          <p:cNvSpPr>
            <a:spLocks noGrp="1"/>
          </p:cNvSpPr>
          <p:nvPr/>
        </p:nvSpPr>
        <p:spPr>
          <a:xfrm>
            <a:off x="6457950" y="842010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275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Events &amp; Causal Chain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A1917F0-43F2-4A15-A149-7FB6330D99E8}"/>
              </a:ext>
            </a:extLst>
          </p:cNvPr>
          <p:cNvSpPr>
            <a:spLocks noGrp="1"/>
          </p:cNvSpPr>
          <p:nvPr/>
        </p:nvSpPr>
        <p:spPr>
          <a:xfrm>
            <a:off x="6096000" y="8953500"/>
            <a:ext cx="46482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00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200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28-node directed causal graph (Cytoscape.js, preset layout) + period communication networks (plotly; edges by channel &amp; volume).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125068C7-F94C-42E3-B990-FDF4CD8EF343}"/>
              </a:ext>
            </a:extLst>
          </p:cNvPr>
          <p:cNvSpPr>
            <a:spLocks noGrp="1"/>
          </p:cNvSpPr>
          <p:nvPr/>
        </p:nvSpPr>
        <p:spPr>
          <a:xfrm>
            <a:off x="11144250" y="8305800"/>
            <a:ext cx="4914900" cy="1362075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14288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DA12D86-601C-4215-BA6B-71D4C9BF3761}"/>
              </a:ext>
            </a:extLst>
          </p:cNvPr>
          <p:cNvSpPr>
            <a:spLocks noGrp="1"/>
          </p:cNvSpPr>
          <p:nvPr/>
        </p:nvSpPr>
        <p:spPr>
          <a:xfrm>
            <a:off x="11144250" y="8305800"/>
            <a:ext cx="4914900" cy="495300"/>
          </a:xfrm>
          <a:prstGeom prst="roundRect">
            <a:avLst>
              <a:gd name="adj" fmla="val 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079152B-A709-42A8-9F3F-FF4476E13EAC}"/>
              </a:ext>
            </a:extLst>
          </p:cNvPr>
          <p:cNvSpPr>
            <a:spLocks noGrp="1"/>
          </p:cNvSpPr>
          <p:nvPr/>
        </p:nvSpPr>
        <p:spPr>
          <a:xfrm>
            <a:off x="11277600" y="8429625"/>
            <a:ext cx="247650" cy="247650"/>
          </a:xfrm>
          <a:prstGeom prst="ellipse">
            <a:avLst/>
          </a:prstGeom>
          <a:solidFill>
            <a:srgbClr val="FFFFFF">
              <a:alpha val="27059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F7FA4CA-CC0A-4B77-AD44-4D20BE20BA78}"/>
              </a:ext>
            </a:extLst>
          </p:cNvPr>
          <p:cNvSpPr>
            <a:spLocks noGrp="1"/>
          </p:cNvSpPr>
          <p:nvPr/>
        </p:nvSpPr>
        <p:spPr>
          <a:xfrm>
            <a:off x="11277600" y="8448675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125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17E41E4-52BC-4719-AC8B-0329B531A8F1}"/>
              </a:ext>
            </a:extLst>
          </p:cNvPr>
          <p:cNvSpPr>
            <a:spLocks noGrp="1"/>
          </p:cNvSpPr>
          <p:nvPr/>
        </p:nvSpPr>
        <p:spPr>
          <a:xfrm>
            <a:off x="11639550" y="842010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275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Behavioural Deviation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D9D2648-F0D3-45F8-AB92-259C0EE91AF2}"/>
              </a:ext>
            </a:extLst>
          </p:cNvPr>
          <p:cNvSpPr>
            <a:spLocks noGrp="1"/>
          </p:cNvSpPr>
          <p:nvPr/>
        </p:nvSpPr>
        <p:spPr>
          <a:xfrm>
            <a:off x="11277600" y="8953500"/>
            <a:ext cx="46482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00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200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Volume/length, channel-share trends, a private-channel sensitivity score, &amp; internal-state typing (deliberating / reacting / rationalizing).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48659E7D-8D3C-4259-A60D-5598A5B05ADD}"/>
              </a:ext>
            </a:extLst>
          </p:cNvPr>
          <p:cNvSpPr>
            <a:spLocks noGrp="1"/>
          </p:cNvSpPr>
          <p:nvPr/>
        </p:nvSpPr>
        <p:spPr>
          <a:xfrm>
            <a:off x="16325850" y="8305800"/>
            <a:ext cx="4914900" cy="1362075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14288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6F672D2F-EDFE-47B0-A854-75579C8C8076}"/>
              </a:ext>
            </a:extLst>
          </p:cNvPr>
          <p:cNvSpPr>
            <a:spLocks noGrp="1"/>
          </p:cNvSpPr>
          <p:nvPr/>
        </p:nvSpPr>
        <p:spPr>
          <a:xfrm>
            <a:off x="16325850" y="8305800"/>
            <a:ext cx="4914900" cy="495300"/>
          </a:xfrm>
          <a:prstGeom prst="roundRect">
            <a:avLst>
              <a:gd name="adj" fmla="val 0"/>
            </a:avLst>
          </a:prstGeom>
          <a:solidFill>
            <a:srgbClr val="9333EA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E66E5ED-AAD9-4C90-8B8C-3C3B6A3A5651}"/>
              </a:ext>
            </a:extLst>
          </p:cNvPr>
          <p:cNvSpPr>
            <a:spLocks noGrp="1"/>
          </p:cNvSpPr>
          <p:nvPr/>
        </p:nvSpPr>
        <p:spPr>
          <a:xfrm>
            <a:off x="16459200" y="8429625"/>
            <a:ext cx="247650" cy="247650"/>
          </a:xfrm>
          <a:prstGeom prst="ellipse">
            <a:avLst/>
          </a:prstGeom>
          <a:solidFill>
            <a:srgbClr val="FFFFFF">
              <a:alpha val="27059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338408E-A6BA-42E3-87BF-DB53531C295E}"/>
              </a:ext>
            </a:extLst>
          </p:cNvPr>
          <p:cNvSpPr>
            <a:spLocks noGrp="1"/>
          </p:cNvSpPr>
          <p:nvPr/>
        </p:nvSpPr>
        <p:spPr>
          <a:xfrm>
            <a:off x="16459200" y="8448675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125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3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95065DE-81AF-4413-ACCA-09BC6436DC0F}"/>
              </a:ext>
            </a:extLst>
          </p:cNvPr>
          <p:cNvSpPr>
            <a:spLocks noGrp="1"/>
          </p:cNvSpPr>
          <p:nvPr/>
        </p:nvSpPr>
        <p:spPr>
          <a:xfrm>
            <a:off x="16821150" y="842010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275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Leading Indicators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802361C-90EC-4D5C-9222-481335680F61}"/>
              </a:ext>
            </a:extLst>
          </p:cNvPr>
          <p:cNvSpPr>
            <a:spLocks noGrp="1"/>
          </p:cNvSpPr>
          <p:nvPr/>
        </p:nvSpPr>
        <p:spPr>
          <a:xfrm>
            <a:off x="16459200" y="8953500"/>
            <a:ext cx="46482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00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200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Jensen–Shannon divergence of each agent's channel mix vs. baseline; rationalisation detection; Judge coverage matrix.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D166C0-4C95-415D-BAB6-E99D94AA84BC}"/>
              </a:ext>
            </a:extLst>
          </p:cNvPr>
          <p:cNvSpPr>
            <a:spLocks noGrp="1"/>
          </p:cNvSpPr>
          <p:nvPr/>
        </p:nvSpPr>
        <p:spPr>
          <a:xfrm>
            <a:off x="781050" y="9867900"/>
            <a:ext cx="2038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7000"/>
              </a:lnSpc>
              <a:buNone/>
              <a:defRPr sz="1275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275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Two signature methods.  (a) Temporal inversion — compare the timestamp of a plan (an agent's deliberating field) against the event it claims to react to; a plan that precedes its trigger is evidence of premeditation.  (b) Behavioural drift — JSD measures how far each agent's channel repertoire moves from its Normal baseline, period by period. Delivered as an integrated R Shiny + bslib dashboard with linked plotly / DT / Cytoscape views and reactive period · agent · channel filters.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A434445E-ACDD-4A57-A83C-9757F9E70A56}"/>
              </a:ext>
            </a:extLst>
          </p:cNvPr>
          <p:cNvSpPr>
            <a:spLocks noGrp="1"/>
          </p:cNvSpPr>
          <p:nvPr/>
        </p:nvSpPr>
        <p:spPr>
          <a:xfrm>
            <a:off x="781050" y="10515600"/>
            <a:ext cx="295275" cy="247650"/>
          </a:xfrm>
          <a:prstGeom prst="roundRect">
            <a:avLst>
              <a:gd name="adj" fmla="val 23077"/>
            </a:avLst>
          </a:prstGeom>
          <a:solidFill>
            <a:srgbClr val="EEF4FE"/>
          </a:solidFill>
          <a:ln w="9525">
            <a:solidFill>
              <a:srgbClr val="D9E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E3AC597-DDC4-482C-ABDD-1E578E261108}"/>
              </a:ext>
            </a:extLst>
          </p:cNvPr>
          <p:cNvSpPr>
            <a:spLocks noGrp="1"/>
          </p:cNvSpPr>
          <p:nvPr/>
        </p:nvSpPr>
        <p:spPr>
          <a:xfrm>
            <a:off x="781050" y="10534650"/>
            <a:ext cx="295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88" b="0" i="0">
                <a:solidFill>
                  <a:srgbClr val="1E3A8A"/>
                </a:solidFill>
                <a:latin typeface="DM Mono"/>
                <a:ea typeface="DM Mono"/>
                <a:cs typeface="DM Mono"/>
              </a:defRPr>
            </a:pPr>
            <a:r>
              <a:rPr sz="1088" b="0" i="0">
                <a:solidFill>
                  <a:srgbClr val="1E3A8A"/>
                </a:solidFill>
                <a:latin typeface="DM Mono"/>
                <a:ea typeface="DM Mono"/>
                <a:cs typeface="DM Mono"/>
              </a:rPr>
              <a:t>R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B29DCF01-DBE6-4B97-89AF-BDB6BBE1C3A3}"/>
              </a:ext>
            </a:extLst>
          </p:cNvPr>
          <p:cNvSpPr>
            <a:spLocks noGrp="1"/>
          </p:cNvSpPr>
          <p:nvPr/>
        </p:nvSpPr>
        <p:spPr>
          <a:xfrm>
            <a:off x="1152525" y="10515600"/>
            <a:ext cx="790575" cy="247650"/>
          </a:xfrm>
          <a:prstGeom prst="roundRect">
            <a:avLst>
              <a:gd name="adj" fmla="val 23077"/>
            </a:avLst>
          </a:prstGeom>
          <a:solidFill>
            <a:srgbClr val="EEF4FE"/>
          </a:solidFill>
          <a:ln w="9525">
            <a:solidFill>
              <a:srgbClr val="D9E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B4B28FE-D991-4B52-B5DD-0D31F63F159F}"/>
              </a:ext>
            </a:extLst>
          </p:cNvPr>
          <p:cNvSpPr>
            <a:spLocks noGrp="1"/>
          </p:cNvSpPr>
          <p:nvPr/>
        </p:nvSpPr>
        <p:spPr>
          <a:xfrm>
            <a:off x="1152525" y="10534650"/>
            <a:ext cx="790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88" b="0" i="0">
                <a:solidFill>
                  <a:srgbClr val="1E3A8A"/>
                </a:solidFill>
                <a:latin typeface="DM Mono"/>
                <a:ea typeface="DM Mono"/>
                <a:cs typeface="DM Mono"/>
              </a:defRPr>
            </a:pPr>
            <a:r>
              <a:rPr sz="1088" b="0" i="0">
                <a:solidFill>
                  <a:srgbClr val="1E3A8A"/>
                </a:solidFill>
                <a:latin typeface="DM Mono"/>
                <a:ea typeface="DM Mono"/>
                <a:cs typeface="DM Mono"/>
              </a:rPr>
              <a:t>Shiny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0059720E-BF50-4A7A-9C31-053B53A1B374}"/>
              </a:ext>
            </a:extLst>
          </p:cNvPr>
          <p:cNvSpPr>
            <a:spLocks noGrp="1"/>
          </p:cNvSpPr>
          <p:nvPr/>
        </p:nvSpPr>
        <p:spPr>
          <a:xfrm>
            <a:off x="2019300" y="10515600"/>
            <a:ext cx="790575" cy="247650"/>
          </a:xfrm>
          <a:prstGeom prst="roundRect">
            <a:avLst>
              <a:gd name="adj" fmla="val 23077"/>
            </a:avLst>
          </a:prstGeom>
          <a:solidFill>
            <a:srgbClr val="EEF4FE"/>
          </a:solidFill>
          <a:ln w="9525">
            <a:solidFill>
              <a:srgbClr val="D9E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4609A6E-5DE6-4652-A7A3-CEE17C9AAE3C}"/>
              </a:ext>
            </a:extLst>
          </p:cNvPr>
          <p:cNvSpPr>
            <a:spLocks noGrp="1"/>
          </p:cNvSpPr>
          <p:nvPr/>
        </p:nvSpPr>
        <p:spPr>
          <a:xfrm>
            <a:off x="2019300" y="10534650"/>
            <a:ext cx="790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88" b="0" i="0">
                <a:solidFill>
                  <a:srgbClr val="1E3A8A"/>
                </a:solidFill>
                <a:latin typeface="DM Mono"/>
                <a:ea typeface="DM Mono"/>
                <a:cs typeface="DM Mono"/>
              </a:defRPr>
            </a:pPr>
            <a:r>
              <a:rPr sz="1088" b="0" i="0">
                <a:solidFill>
                  <a:srgbClr val="1E3A8A"/>
                </a:solidFill>
                <a:latin typeface="DM Mono"/>
                <a:ea typeface="DM Mono"/>
                <a:cs typeface="DM Mono"/>
              </a:rPr>
              <a:t>bslib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611154EA-808E-4037-A919-D4D3D35B3DCB}"/>
              </a:ext>
            </a:extLst>
          </p:cNvPr>
          <p:cNvSpPr>
            <a:spLocks noGrp="1"/>
          </p:cNvSpPr>
          <p:nvPr/>
        </p:nvSpPr>
        <p:spPr>
          <a:xfrm>
            <a:off x="2886075" y="10515600"/>
            <a:ext cx="1285875" cy="247650"/>
          </a:xfrm>
          <a:prstGeom prst="roundRect">
            <a:avLst>
              <a:gd name="adj" fmla="val 23077"/>
            </a:avLst>
          </a:prstGeom>
          <a:solidFill>
            <a:srgbClr val="EEF4FE"/>
          </a:solidFill>
          <a:ln w="9525">
            <a:solidFill>
              <a:srgbClr val="D9E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630F304-8948-471E-92BB-4CB9B34785C6}"/>
              </a:ext>
            </a:extLst>
          </p:cNvPr>
          <p:cNvSpPr>
            <a:spLocks noGrp="1"/>
          </p:cNvSpPr>
          <p:nvPr/>
        </p:nvSpPr>
        <p:spPr>
          <a:xfrm>
            <a:off x="2886075" y="10534650"/>
            <a:ext cx="1285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88" b="0" i="0">
                <a:solidFill>
                  <a:srgbClr val="1E3A8A"/>
                </a:solidFill>
                <a:latin typeface="DM Mono"/>
                <a:ea typeface="DM Mono"/>
                <a:cs typeface="DM Mono"/>
              </a:defRPr>
            </a:pPr>
            <a:r>
              <a:rPr sz="1088" b="0" i="0">
                <a:solidFill>
                  <a:srgbClr val="1E3A8A"/>
                </a:solidFill>
                <a:latin typeface="DM Mono"/>
                <a:ea typeface="DM Mono"/>
                <a:cs typeface="DM Mono"/>
              </a:rPr>
              <a:t>tidyverse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5512E5F6-57EB-43F2-8F95-3E05BD3617F6}"/>
              </a:ext>
            </a:extLst>
          </p:cNvPr>
          <p:cNvSpPr>
            <a:spLocks noGrp="1"/>
          </p:cNvSpPr>
          <p:nvPr/>
        </p:nvSpPr>
        <p:spPr>
          <a:xfrm>
            <a:off x="4248150" y="10515600"/>
            <a:ext cx="914400" cy="247650"/>
          </a:xfrm>
          <a:prstGeom prst="roundRect">
            <a:avLst>
              <a:gd name="adj" fmla="val 23077"/>
            </a:avLst>
          </a:prstGeom>
          <a:solidFill>
            <a:srgbClr val="EEF4FE"/>
          </a:solidFill>
          <a:ln w="9525">
            <a:solidFill>
              <a:srgbClr val="D9E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2A0CCAC-4C32-4E5C-A1DF-8DEBF76B0A1E}"/>
              </a:ext>
            </a:extLst>
          </p:cNvPr>
          <p:cNvSpPr>
            <a:spLocks noGrp="1"/>
          </p:cNvSpPr>
          <p:nvPr/>
        </p:nvSpPr>
        <p:spPr>
          <a:xfrm>
            <a:off x="4248150" y="10534650"/>
            <a:ext cx="914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88" b="0" i="0">
                <a:solidFill>
                  <a:srgbClr val="1E3A8A"/>
                </a:solidFill>
                <a:latin typeface="DM Mono"/>
                <a:ea typeface="DM Mono"/>
                <a:cs typeface="DM Mono"/>
              </a:defRPr>
            </a:pPr>
            <a:r>
              <a:rPr sz="1088" b="0" i="0">
                <a:solidFill>
                  <a:srgbClr val="1E3A8A"/>
                </a:solidFill>
                <a:latin typeface="DM Mono"/>
                <a:ea typeface="DM Mono"/>
                <a:cs typeface="DM Mono"/>
              </a:rPr>
              <a:t>plotly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1694015E-40BD-4C06-B809-789429726315}"/>
              </a:ext>
            </a:extLst>
          </p:cNvPr>
          <p:cNvSpPr>
            <a:spLocks noGrp="1"/>
          </p:cNvSpPr>
          <p:nvPr/>
        </p:nvSpPr>
        <p:spPr>
          <a:xfrm>
            <a:off x="5238750" y="10515600"/>
            <a:ext cx="1657350" cy="247650"/>
          </a:xfrm>
          <a:prstGeom prst="roundRect">
            <a:avLst>
              <a:gd name="adj" fmla="val 23077"/>
            </a:avLst>
          </a:prstGeom>
          <a:solidFill>
            <a:srgbClr val="EEF4FE"/>
          </a:solidFill>
          <a:ln w="9525">
            <a:solidFill>
              <a:srgbClr val="D9E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7386D5F-2C07-4D45-9062-BD46EDDD8D8F}"/>
              </a:ext>
            </a:extLst>
          </p:cNvPr>
          <p:cNvSpPr>
            <a:spLocks noGrp="1"/>
          </p:cNvSpPr>
          <p:nvPr/>
        </p:nvSpPr>
        <p:spPr>
          <a:xfrm>
            <a:off x="5238750" y="1053465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88" b="0" i="0">
                <a:solidFill>
                  <a:srgbClr val="1E3A8A"/>
                </a:solidFill>
                <a:latin typeface="DM Mono"/>
                <a:ea typeface="DM Mono"/>
                <a:cs typeface="DM Mono"/>
              </a:defRPr>
            </a:pPr>
            <a:r>
              <a:rPr sz="1088" b="0" i="0">
                <a:solidFill>
                  <a:srgbClr val="1E3A8A"/>
                </a:solidFill>
                <a:latin typeface="DM Mono"/>
                <a:ea typeface="DM Mono"/>
                <a:cs typeface="DM Mono"/>
              </a:rPr>
              <a:t>Cytoscape.js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A63026F8-18DF-4D53-A6EE-2ED92A527287}"/>
              </a:ext>
            </a:extLst>
          </p:cNvPr>
          <p:cNvSpPr>
            <a:spLocks noGrp="1"/>
          </p:cNvSpPr>
          <p:nvPr/>
        </p:nvSpPr>
        <p:spPr>
          <a:xfrm>
            <a:off x="6972300" y="10515600"/>
            <a:ext cx="419100" cy="247650"/>
          </a:xfrm>
          <a:prstGeom prst="roundRect">
            <a:avLst>
              <a:gd name="adj" fmla="val 23077"/>
            </a:avLst>
          </a:prstGeom>
          <a:solidFill>
            <a:srgbClr val="EEF4FE"/>
          </a:solidFill>
          <a:ln w="9525">
            <a:solidFill>
              <a:srgbClr val="D9E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BCB0FD2-ACE7-425C-B83C-ABFB6CD52FF3}"/>
              </a:ext>
            </a:extLst>
          </p:cNvPr>
          <p:cNvSpPr>
            <a:spLocks noGrp="1"/>
          </p:cNvSpPr>
          <p:nvPr/>
        </p:nvSpPr>
        <p:spPr>
          <a:xfrm>
            <a:off x="6972300" y="105346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88" b="0" i="0">
                <a:solidFill>
                  <a:srgbClr val="1E3A8A"/>
                </a:solidFill>
                <a:latin typeface="DM Mono"/>
                <a:ea typeface="DM Mono"/>
                <a:cs typeface="DM Mono"/>
              </a:defRPr>
            </a:pPr>
            <a:r>
              <a:rPr sz="1088" b="0" i="0">
                <a:solidFill>
                  <a:srgbClr val="1E3A8A"/>
                </a:solidFill>
                <a:latin typeface="DM Mono"/>
                <a:ea typeface="DM Mono"/>
                <a:cs typeface="DM Mono"/>
              </a:rPr>
              <a:t>DT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4374129E-83D0-42BE-A57F-73D1F2529F18}"/>
              </a:ext>
            </a:extLst>
          </p:cNvPr>
          <p:cNvSpPr>
            <a:spLocks noGrp="1"/>
          </p:cNvSpPr>
          <p:nvPr/>
        </p:nvSpPr>
        <p:spPr>
          <a:xfrm>
            <a:off x="7467600" y="10515600"/>
            <a:ext cx="1162050" cy="247650"/>
          </a:xfrm>
          <a:prstGeom prst="roundRect">
            <a:avLst>
              <a:gd name="adj" fmla="val 23077"/>
            </a:avLst>
          </a:prstGeom>
          <a:solidFill>
            <a:srgbClr val="EEF4FE"/>
          </a:solidFill>
          <a:ln w="9525">
            <a:solidFill>
              <a:srgbClr val="D9E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C798688-80FF-453B-9559-E933B93D91DD}"/>
              </a:ext>
            </a:extLst>
          </p:cNvPr>
          <p:cNvSpPr>
            <a:spLocks noGrp="1"/>
          </p:cNvSpPr>
          <p:nvPr/>
        </p:nvSpPr>
        <p:spPr>
          <a:xfrm>
            <a:off x="7467600" y="10534650"/>
            <a:ext cx="1162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88" b="0" i="0">
                <a:solidFill>
                  <a:srgbClr val="1E3A8A"/>
                </a:solidFill>
                <a:latin typeface="DM Mono"/>
                <a:ea typeface="DM Mono"/>
                <a:cs typeface="DM Mono"/>
              </a:defRPr>
            </a:pPr>
            <a:r>
              <a:rPr sz="1088" b="0" i="0">
                <a:solidFill>
                  <a:srgbClr val="1E3A8A"/>
                </a:solidFill>
                <a:latin typeface="DM Mono"/>
                <a:ea typeface="DM Mono"/>
                <a:cs typeface="DM Mono"/>
              </a:rPr>
              <a:t>jsonlite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00DB0FB5-AE11-4974-B2F4-E2CB0444F786}"/>
              </a:ext>
            </a:extLst>
          </p:cNvPr>
          <p:cNvSpPr>
            <a:spLocks noGrp="1"/>
          </p:cNvSpPr>
          <p:nvPr/>
        </p:nvSpPr>
        <p:spPr>
          <a:xfrm>
            <a:off x="8705850" y="10515600"/>
            <a:ext cx="1285875" cy="247650"/>
          </a:xfrm>
          <a:prstGeom prst="roundRect">
            <a:avLst>
              <a:gd name="adj" fmla="val 23077"/>
            </a:avLst>
          </a:prstGeom>
          <a:solidFill>
            <a:srgbClr val="EEF4FE"/>
          </a:solidFill>
          <a:ln w="9525">
            <a:solidFill>
              <a:srgbClr val="D9E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90EC54C-8573-431D-AFC5-C81091A40B0D}"/>
              </a:ext>
            </a:extLst>
          </p:cNvPr>
          <p:cNvSpPr>
            <a:spLocks noGrp="1"/>
          </p:cNvSpPr>
          <p:nvPr/>
        </p:nvSpPr>
        <p:spPr>
          <a:xfrm>
            <a:off x="8705850" y="10534650"/>
            <a:ext cx="1285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88" b="0" i="0">
                <a:solidFill>
                  <a:srgbClr val="1E3A8A"/>
                </a:solidFill>
                <a:latin typeface="DM Mono"/>
                <a:ea typeface="DM Mono"/>
                <a:cs typeface="DM Mono"/>
              </a:defRPr>
            </a:pPr>
            <a:r>
              <a:rPr sz="1088" b="0" i="0">
                <a:solidFill>
                  <a:srgbClr val="1E3A8A"/>
                </a:solidFill>
                <a:latin typeface="DM Mono"/>
                <a:ea typeface="DM Mono"/>
                <a:cs typeface="DM Mono"/>
              </a:rPr>
              <a:t>lubridate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ACA2B020-B848-4C70-98E4-74768D1B0ECB}"/>
              </a:ext>
            </a:extLst>
          </p:cNvPr>
          <p:cNvSpPr>
            <a:spLocks noGrp="1"/>
          </p:cNvSpPr>
          <p:nvPr/>
        </p:nvSpPr>
        <p:spPr>
          <a:xfrm>
            <a:off x="10067925" y="10515600"/>
            <a:ext cx="1038225" cy="247650"/>
          </a:xfrm>
          <a:prstGeom prst="roundRect">
            <a:avLst>
              <a:gd name="adj" fmla="val 23077"/>
            </a:avLst>
          </a:prstGeom>
          <a:solidFill>
            <a:srgbClr val="EEF4FE"/>
          </a:solidFill>
          <a:ln w="9525">
            <a:solidFill>
              <a:srgbClr val="D9E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5871944-B727-4EDC-B3F1-16DB03AF4F00}"/>
              </a:ext>
            </a:extLst>
          </p:cNvPr>
          <p:cNvSpPr>
            <a:spLocks noGrp="1"/>
          </p:cNvSpPr>
          <p:nvPr/>
        </p:nvSpPr>
        <p:spPr>
          <a:xfrm>
            <a:off x="10067925" y="10534650"/>
            <a:ext cx="10382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88" b="0" i="0">
                <a:solidFill>
                  <a:srgbClr val="1E3A8A"/>
                </a:solidFill>
                <a:latin typeface="DM Mono"/>
                <a:ea typeface="DM Mono"/>
                <a:cs typeface="DM Mono"/>
              </a:defRPr>
            </a:pPr>
            <a:r>
              <a:rPr sz="1088" b="0" i="0">
                <a:solidFill>
                  <a:srgbClr val="1E3A8A"/>
                </a:solidFill>
                <a:latin typeface="DM Mono"/>
                <a:ea typeface="DM Mono"/>
                <a:cs typeface="DM Mono"/>
              </a:rPr>
              <a:t>stringr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6B0178E1-F108-4295-8A22-262384CDB8B0}"/>
              </a:ext>
            </a:extLst>
          </p:cNvPr>
          <p:cNvSpPr>
            <a:spLocks noGrp="1"/>
          </p:cNvSpPr>
          <p:nvPr/>
        </p:nvSpPr>
        <p:spPr>
          <a:xfrm>
            <a:off x="533400" y="11239500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0D1B2A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0E4453F-2DD5-4FD8-B2B6-7F4063B71CF8}"/>
              </a:ext>
            </a:extLst>
          </p:cNvPr>
          <p:cNvSpPr>
            <a:spLocks noGrp="1"/>
          </p:cNvSpPr>
          <p:nvPr/>
        </p:nvSpPr>
        <p:spPr>
          <a:xfrm>
            <a:off x="533400" y="11249025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65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4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5EB7F5B6-F349-444E-9043-7A4E597C63D4}"/>
              </a:ext>
            </a:extLst>
          </p:cNvPr>
          <p:cNvSpPr>
            <a:spLocks noGrp="1"/>
          </p:cNvSpPr>
          <p:nvPr/>
        </p:nvSpPr>
        <p:spPr>
          <a:xfrm>
            <a:off x="1066800" y="11268075"/>
            <a:ext cx="600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1E293B"/>
                </a:solidFill>
                <a:latin typeface="DM Sans"/>
                <a:ea typeface="DM Sans"/>
                <a:cs typeface="DM Sans"/>
              </a:defRPr>
            </a:pPr>
            <a:r>
              <a:rPr sz="2250" b="1" i="0">
                <a:solidFill>
                  <a:srgbClr val="1E293B"/>
                </a:solidFill>
                <a:latin typeface="DM Sans"/>
                <a:ea typeface="DM Sans"/>
                <a:cs typeface="DM Sans"/>
              </a:rPr>
              <a:t>Results — Interactive Shiny Dashboard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0CB32E9-7444-4B5D-A021-D3B75346AD95}"/>
              </a:ext>
            </a:extLst>
          </p:cNvPr>
          <p:cNvSpPr>
            <a:spLocks noGrp="1"/>
          </p:cNvSpPr>
          <p:nvPr/>
        </p:nvSpPr>
        <p:spPr>
          <a:xfrm>
            <a:off x="6400800" y="113538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64748B"/>
                </a:solidFill>
                <a:latin typeface="DM Sans"/>
                <a:ea typeface="DM Sans"/>
                <a:cs typeface="DM Sans"/>
              </a:defRPr>
            </a:pPr>
            <a:r>
              <a:rPr sz="1350" b="1" i="0">
                <a:solidFill>
                  <a:srgbClr val="64748B"/>
                </a:solidFill>
                <a:latin typeface="DM Sans"/>
                <a:ea typeface="DM Sans"/>
                <a:cs typeface="DM Sans"/>
              </a:rPr>
              <a:t>live demo · ttbui2025.shinyapps.io/Group_Project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729FF5D4-1EB0-406B-ABAB-8CBB70CE5E6A}"/>
              </a:ext>
            </a:extLst>
          </p:cNvPr>
          <p:cNvSpPr>
            <a:spLocks noGrp="1"/>
          </p:cNvSpPr>
          <p:nvPr/>
        </p:nvSpPr>
        <p:spPr>
          <a:xfrm>
            <a:off x="533400" y="11791950"/>
            <a:ext cx="21212175" cy="30670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SG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0145327-7666-497E-B1AD-DBA45F4BBC0C}"/>
              </a:ext>
            </a:extLst>
          </p:cNvPr>
          <p:cNvSpPr>
            <a:spLocks noGrp="1"/>
          </p:cNvSpPr>
          <p:nvPr/>
        </p:nvSpPr>
        <p:spPr>
          <a:xfrm>
            <a:off x="533400" y="12325350"/>
            <a:ext cx="21212175" cy="9525"/>
          </a:xfrm>
          <a:prstGeom prst="rect">
            <a:avLst/>
          </a:prstGeom>
          <a:solidFill>
            <a:srgbClr val="DBE3EC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AC00EDC8-ECDE-4E57-A7B1-5DAC88DBD06E}"/>
              </a:ext>
            </a:extLst>
          </p:cNvPr>
          <p:cNvSpPr>
            <a:spLocks noGrp="1"/>
          </p:cNvSpPr>
          <p:nvPr/>
        </p:nvSpPr>
        <p:spPr>
          <a:xfrm>
            <a:off x="714375" y="11991975"/>
            <a:ext cx="123825" cy="123825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4EEAD63-029E-40E4-82AB-C5D657A0BB74}"/>
              </a:ext>
            </a:extLst>
          </p:cNvPr>
          <p:cNvSpPr>
            <a:spLocks noGrp="1"/>
          </p:cNvSpPr>
          <p:nvPr/>
        </p:nvSpPr>
        <p:spPr>
          <a:xfrm>
            <a:off x="971550" y="11915775"/>
            <a:ext cx="742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425" b="1" i="0">
                <a:solidFill>
                  <a:srgbClr val="1E293B"/>
                </a:solidFill>
                <a:latin typeface="DM Sans"/>
                <a:ea typeface="DM Sans"/>
                <a:cs typeface="DM Sans"/>
              </a:defRPr>
            </a:pPr>
            <a:r>
              <a:rPr sz="1425" b="1" i="0">
                <a:solidFill>
                  <a:srgbClr val="1E293B"/>
                </a:solidFill>
                <a:latin typeface="DM Sans"/>
                <a:ea typeface="DM Sans"/>
                <a:cs typeface="DM Sans"/>
              </a:rPr>
              <a:t>Data Exploration — Dataset &amp; Dashboard Foundation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FDC5DEFA-82B4-4821-A9AC-DA555648DBE6}"/>
              </a:ext>
            </a:extLst>
          </p:cNvPr>
          <p:cNvSpPr>
            <a:spLocks noGrp="1"/>
          </p:cNvSpPr>
          <p:nvPr/>
        </p:nvSpPr>
        <p:spPr>
          <a:xfrm>
            <a:off x="20955000" y="11906250"/>
            <a:ext cx="600075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D448EB7-B0E4-4FDF-A602-6E9E347BA4EC}"/>
              </a:ext>
            </a:extLst>
          </p:cNvPr>
          <p:cNvSpPr>
            <a:spLocks noGrp="1"/>
          </p:cNvSpPr>
          <p:nvPr/>
        </p:nvSpPr>
        <p:spPr>
          <a:xfrm>
            <a:off x="20955000" y="11915775"/>
            <a:ext cx="600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OVERVIEW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A8C009ED-6793-46C2-893E-284D1E64DA06}"/>
              </a:ext>
            </a:extLst>
          </p:cNvPr>
          <p:cNvSpPr>
            <a:spLocks noGrp="1"/>
          </p:cNvSpPr>
          <p:nvPr/>
        </p:nvSpPr>
        <p:spPr>
          <a:xfrm>
            <a:off x="781050" y="12420600"/>
            <a:ext cx="971550" cy="781050"/>
          </a:xfrm>
          <a:prstGeom prst="roundRect">
            <a:avLst>
              <a:gd name="adj" fmla="val 12195"/>
            </a:avLst>
          </a:prstGeom>
          <a:solidFill>
            <a:srgbClr val="F1F6FD"/>
          </a:solidFill>
          <a:ln w="9525">
            <a:solidFill>
              <a:srgbClr val="DBE9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082B71D-E383-45B8-A0FA-7D17331FE394}"/>
              </a:ext>
            </a:extLst>
          </p:cNvPr>
          <p:cNvSpPr>
            <a:spLocks noGrp="1"/>
          </p:cNvSpPr>
          <p:nvPr/>
        </p:nvSpPr>
        <p:spPr>
          <a:xfrm>
            <a:off x="781050" y="12553950"/>
            <a:ext cx="971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2563EB"/>
                </a:solidFill>
                <a:latin typeface="DM Sans"/>
                <a:ea typeface="DM Sans"/>
                <a:cs typeface="DM Sans"/>
              </a:defRPr>
            </a:pPr>
            <a:r>
              <a:rPr sz="2100" b="1" i="0">
                <a:solidFill>
                  <a:srgbClr val="2563EB"/>
                </a:solidFill>
                <a:latin typeface="DM Sans"/>
                <a:ea typeface="DM Sans"/>
                <a:cs typeface="DM Sans"/>
              </a:rPr>
              <a:t>912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091B33C-4FC9-4797-861C-5529CA099ADF}"/>
              </a:ext>
            </a:extLst>
          </p:cNvPr>
          <p:cNvSpPr>
            <a:spLocks noGrp="1"/>
          </p:cNvSpPr>
          <p:nvPr/>
        </p:nvSpPr>
        <p:spPr>
          <a:xfrm>
            <a:off x="781050" y="12915900"/>
            <a:ext cx="971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13" b="1" i="0">
                <a:solidFill>
                  <a:srgbClr val="64748B"/>
                </a:solidFill>
                <a:latin typeface="DM Sans"/>
                <a:ea typeface="DM Sans"/>
                <a:cs typeface="DM Sans"/>
              </a:defRPr>
            </a:pPr>
            <a:r>
              <a:rPr sz="1013" b="1" i="0">
                <a:solidFill>
                  <a:srgbClr val="64748B"/>
                </a:solidFill>
                <a:latin typeface="DM Sans"/>
                <a:ea typeface="DM Sans"/>
                <a:cs typeface="DM Sans"/>
              </a:rPr>
              <a:t>messages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F2DF343D-E1F5-4BAC-978E-80BD32789B01}"/>
              </a:ext>
            </a:extLst>
          </p:cNvPr>
          <p:cNvSpPr>
            <a:spLocks noGrp="1"/>
          </p:cNvSpPr>
          <p:nvPr/>
        </p:nvSpPr>
        <p:spPr>
          <a:xfrm>
            <a:off x="1847850" y="12420600"/>
            <a:ext cx="971550" cy="781050"/>
          </a:xfrm>
          <a:prstGeom prst="roundRect">
            <a:avLst>
              <a:gd name="adj" fmla="val 12195"/>
            </a:avLst>
          </a:prstGeom>
          <a:solidFill>
            <a:srgbClr val="F1F6FD"/>
          </a:solidFill>
          <a:ln w="9525">
            <a:solidFill>
              <a:srgbClr val="DBE9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3842B86-B693-40F5-A15C-A477A8A777CA}"/>
              </a:ext>
            </a:extLst>
          </p:cNvPr>
          <p:cNvSpPr>
            <a:spLocks noGrp="1"/>
          </p:cNvSpPr>
          <p:nvPr/>
        </p:nvSpPr>
        <p:spPr>
          <a:xfrm>
            <a:off x="1847850" y="12553950"/>
            <a:ext cx="971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2563EB"/>
                </a:solidFill>
                <a:latin typeface="DM Sans"/>
                <a:ea typeface="DM Sans"/>
                <a:cs typeface="DM Sans"/>
              </a:defRPr>
            </a:pPr>
            <a:r>
              <a:rPr sz="2100" b="1" i="0">
                <a:solidFill>
                  <a:srgbClr val="2563EB"/>
                </a:solidFill>
                <a:latin typeface="DM Sans"/>
                <a:ea typeface="DM Sans"/>
                <a:cs typeface="DM Sans"/>
              </a:rPr>
              <a:t>23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46531941-A659-4919-A3DB-8AAF2E9AE5A8}"/>
              </a:ext>
            </a:extLst>
          </p:cNvPr>
          <p:cNvSpPr>
            <a:spLocks noGrp="1"/>
          </p:cNvSpPr>
          <p:nvPr/>
        </p:nvSpPr>
        <p:spPr>
          <a:xfrm>
            <a:off x="1847850" y="12915900"/>
            <a:ext cx="971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13" b="1" i="0">
                <a:solidFill>
                  <a:srgbClr val="64748B"/>
                </a:solidFill>
                <a:latin typeface="DM Sans"/>
                <a:ea typeface="DM Sans"/>
                <a:cs typeface="DM Sans"/>
              </a:defRPr>
            </a:pPr>
            <a:r>
              <a:rPr sz="1013" b="1" i="0">
                <a:solidFill>
                  <a:srgbClr val="64748B"/>
                </a:solidFill>
                <a:latin typeface="DM Sans"/>
                <a:ea typeface="DM Sans"/>
                <a:cs typeface="DM Sans"/>
              </a:rPr>
              <a:t>rounds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1B79799E-6A36-4B23-BC37-1D241AC0ECFC}"/>
              </a:ext>
            </a:extLst>
          </p:cNvPr>
          <p:cNvSpPr>
            <a:spLocks noGrp="1"/>
          </p:cNvSpPr>
          <p:nvPr/>
        </p:nvSpPr>
        <p:spPr>
          <a:xfrm>
            <a:off x="781050" y="13296900"/>
            <a:ext cx="971550" cy="781050"/>
          </a:xfrm>
          <a:prstGeom prst="roundRect">
            <a:avLst>
              <a:gd name="adj" fmla="val 12195"/>
            </a:avLst>
          </a:prstGeom>
          <a:solidFill>
            <a:srgbClr val="F1F6FD"/>
          </a:solidFill>
          <a:ln w="9525">
            <a:solidFill>
              <a:srgbClr val="DBE9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40AAC12-A3D9-4E32-8E25-72C0FB1A0379}"/>
              </a:ext>
            </a:extLst>
          </p:cNvPr>
          <p:cNvSpPr>
            <a:spLocks noGrp="1"/>
          </p:cNvSpPr>
          <p:nvPr/>
        </p:nvSpPr>
        <p:spPr>
          <a:xfrm>
            <a:off x="781050" y="13430250"/>
            <a:ext cx="971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2563EB"/>
                </a:solidFill>
                <a:latin typeface="DM Sans"/>
                <a:ea typeface="DM Sans"/>
                <a:cs typeface="DM Sans"/>
              </a:defRPr>
            </a:pPr>
            <a:r>
              <a:rPr sz="2100" b="1" i="0">
                <a:solidFill>
                  <a:srgbClr val="2563EB"/>
                </a:solidFill>
                <a:latin typeface="DM Sans"/>
                <a:ea typeface="DM Sans"/>
                <a:cs typeface="DM Sans"/>
              </a:rPr>
              <a:t>7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E72354D-B3F7-4529-9E4D-459993693DE5}"/>
              </a:ext>
            </a:extLst>
          </p:cNvPr>
          <p:cNvSpPr>
            <a:spLocks noGrp="1"/>
          </p:cNvSpPr>
          <p:nvPr/>
        </p:nvSpPr>
        <p:spPr>
          <a:xfrm>
            <a:off x="781050" y="13792200"/>
            <a:ext cx="971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13" b="1" i="0">
                <a:solidFill>
                  <a:srgbClr val="64748B"/>
                </a:solidFill>
                <a:latin typeface="DM Sans"/>
                <a:ea typeface="DM Sans"/>
                <a:cs typeface="DM Sans"/>
              </a:defRPr>
            </a:pPr>
            <a:r>
              <a:rPr sz="1013" b="1" i="0">
                <a:solidFill>
                  <a:srgbClr val="64748B"/>
                </a:solidFill>
                <a:latin typeface="DM Sans"/>
                <a:ea typeface="DM Sans"/>
                <a:cs typeface="DM Sans"/>
              </a:rPr>
              <a:t>agents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A95129D9-3772-45AB-8701-395D33D96BBD}"/>
              </a:ext>
            </a:extLst>
          </p:cNvPr>
          <p:cNvSpPr>
            <a:spLocks noGrp="1"/>
          </p:cNvSpPr>
          <p:nvPr/>
        </p:nvSpPr>
        <p:spPr>
          <a:xfrm>
            <a:off x="1847850" y="13296900"/>
            <a:ext cx="971550" cy="781050"/>
          </a:xfrm>
          <a:prstGeom prst="roundRect">
            <a:avLst>
              <a:gd name="adj" fmla="val 12195"/>
            </a:avLst>
          </a:prstGeom>
          <a:solidFill>
            <a:srgbClr val="F1F6FD"/>
          </a:solidFill>
          <a:ln w="9525">
            <a:solidFill>
              <a:srgbClr val="DBE9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8550270-3E87-482B-A147-EC93A0A8CBF9}"/>
              </a:ext>
            </a:extLst>
          </p:cNvPr>
          <p:cNvSpPr>
            <a:spLocks noGrp="1"/>
          </p:cNvSpPr>
          <p:nvPr/>
        </p:nvSpPr>
        <p:spPr>
          <a:xfrm>
            <a:off x="1847850" y="13430250"/>
            <a:ext cx="971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2563EB"/>
                </a:solidFill>
                <a:latin typeface="DM Sans"/>
                <a:ea typeface="DM Sans"/>
                <a:cs typeface="DM Sans"/>
              </a:defRPr>
            </a:pPr>
            <a:r>
              <a:rPr sz="2100" b="1" i="0">
                <a:solidFill>
                  <a:srgbClr val="2563EB"/>
                </a:solidFill>
                <a:latin typeface="DM Sans"/>
                <a:ea typeface="DM Sans"/>
                <a:cs typeface="DM Sans"/>
              </a:rPr>
              <a:t>6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6472350-6921-43FF-967B-8A2AF5C3516A}"/>
              </a:ext>
            </a:extLst>
          </p:cNvPr>
          <p:cNvSpPr>
            <a:spLocks noGrp="1"/>
          </p:cNvSpPr>
          <p:nvPr/>
        </p:nvSpPr>
        <p:spPr>
          <a:xfrm>
            <a:off x="1847850" y="13792200"/>
            <a:ext cx="971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13" b="1" i="0">
                <a:solidFill>
                  <a:srgbClr val="64748B"/>
                </a:solidFill>
                <a:latin typeface="DM Sans"/>
                <a:ea typeface="DM Sans"/>
                <a:cs typeface="DM Sans"/>
              </a:defRPr>
            </a:pPr>
            <a:r>
              <a:rPr sz="1013" b="1" i="0">
                <a:solidFill>
                  <a:srgbClr val="64748B"/>
                </a:solidFill>
                <a:latin typeface="DM Sans"/>
                <a:ea typeface="DM Sans"/>
                <a:cs typeface="DM Sans"/>
              </a:rPr>
              <a:t>channels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BCF2004-34A1-4BF6-9AB6-25AD88CB0A28}"/>
              </a:ext>
            </a:extLst>
          </p:cNvPr>
          <p:cNvSpPr>
            <a:spLocks noGrp="1"/>
          </p:cNvSpPr>
          <p:nvPr/>
        </p:nvSpPr>
        <p:spPr>
          <a:xfrm>
            <a:off x="2876550" y="12392025"/>
            <a:ext cx="861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88" b="1" i="0">
                <a:solidFill>
                  <a:srgbClr val="1E293B"/>
                </a:solidFill>
                <a:latin typeface="DM Sans"/>
                <a:ea typeface="DM Sans"/>
                <a:cs typeface="DM Sans"/>
              </a:defRPr>
            </a:pPr>
            <a:r>
              <a:rPr sz="1088" b="1" i="0">
                <a:solidFill>
                  <a:srgbClr val="1E293B"/>
                </a:solidFill>
                <a:latin typeface="DM Sans"/>
                <a:ea typeface="DM Sans"/>
                <a:cs typeface="DM Sans"/>
              </a:rPr>
              <a:t>Channel Architecture &amp; Monitoring Scope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C4485C5B-2CAD-4E6E-9760-A08AD6C871E8}"/>
              </a:ext>
            </a:extLst>
          </p:cNvPr>
          <p:cNvSpPr>
            <a:spLocks noGrp="1"/>
          </p:cNvSpPr>
          <p:nvPr/>
        </p:nvSpPr>
        <p:spPr>
          <a:xfrm>
            <a:off x="2876550" y="12687300"/>
            <a:ext cx="8610600" cy="190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73C2D3F-BBE8-4C44-9828-B6568B06B4D4}"/>
              </a:ext>
            </a:extLst>
          </p:cNvPr>
          <p:cNvSpPr>
            <a:spLocks noGrp="1"/>
          </p:cNvSpPr>
          <p:nvPr/>
        </p:nvSpPr>
        <p:spPr>
          <a:xfrm>
            <a:off x="2895600" y="12763500"/>
            <a:ext cx="1856232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64748B"/>
                </a:solidFill>
                <a:latin typeface="DM Sans"/>
                <a:ea typeface="DM Sans"/>
                <a:cs typeface="DM Sans"/>
              </a:defRPr>
            </a:pPr>
            <a:r>
              <a:rPr sz="750" b="1" i="0">
                <a:solidFill>
                  <a:srgbClr val="64748B"/>
                </a:solidFill>
                <a:latin typeface="DM Sans"/>
                <a:ea typeface="DM Sans"/>
                <a:cs typeface="DM Sans"/>
              </a:rPr>
              <a:t>CHANNEL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2F703AA-7541-4F9A-B1AA-47477ADC5E78}"/>
              </a:ext>
            </a:extLst>
          </p:cNvPr>
          <p:cNvSpPr>
            <a:spLocks noGrp="1"/>
          </p:cNvSpPr>
          <p:nvPr/>
        </p:nvSpPr>
        <p:spPr>
          <a:xfrm>
            <a:off x="4789932" y="12763500"/>
            <a:ext cx="909066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64748B"/>
                </a:solidFill>
                <a:latin typeface="DM Sans"/>
                <a:ea typeface="DM Sans"/>
                <a:cs typeface="DM Sans"/>
              </a:defRPr>
            </a:pPr>
            <a:r>
              <a:rPr sz="750" b="1" i="0">
                <a:solidFill>
                  <a:srgbClr val="64748B"/>
                </a:solidFill>
                <a:latin typeface="DM Sans"/>
                <a:ea typeface="DM Sans"/>
                <a:cs typeface="DM Sans"/>
              </a:rPr>
              <a:t>TYPE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4A26FA7-2150-497B-9DCB-2C7407C6C1DC}"/>
              </a:ext>
            </a:extLst>
          </p:cNvPr>
          <p:cNvSpPr>
            <a:spLocks noGrp="1"/>
          </p:cNvSpPr>
          <p:nvPr/>
        </p:nvSpPr>
        <p:spPr>
          <a:xfrm>
            <a:off x="5737098" y="12763500"/>
            <a:ext cx="995172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64748B"/>
                </a:solidFill>
                <a:latin typeface="DM Sans"/>
                <a:ea typeface="DM Sans"/>
                <a:cs typeface="DM Sans"/>
              </a:defRPr>
            </a:pPr>
            <a:r>
              <a:rPr sz="750" b="1" i="0">
                <a:solidFill>
                  <a:srgbClr val="64748B"/>
                </a:solidFill>
                <a:latin typeface="DM Sans"/>
                <a:ea typeface="DM Sans"/>
                <a:cs typeface="DM Sans"/>
              </a:rPr>
              <a:t>JUDGE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7F21B5D-B602-4710-A2C4-9BE7C08CD10F}"/>
              </a:ext>
            </a:extLst>
          </p:cNvPr>
          <p:cNvSpPr>
            <a:spLocks noGrp="1"/>
          </p:cNvSpPr>
          <p:nvPr/>
        </p:nvSpPr>
        <p:spPr>
          <a:xfrm>
            <a:off x="6770370" y="12763500"/>
            <a:ext cx="469773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64748B"/>
                </a:solidFill>
                <a:latin typeface="DM Sans"/>
                <a:ea typeface="DM Sans"/>
                <a:cs typeface="DM Sans"/>
              </a:defRPr>
            </a:pPr>
            <a:r>
              <a:rPr sz="750" b="1" i="0">
                <a:solidFill>
                  <a:srgbClr val="64748B"/>
                </a:solidFill>
                <a:latin typeface="DM Sans"/>
                <a:ea typeface="DM Sans"/>
                <a:cs typeface="DM Sans"/>
              </a:rPr>
              <a:t>PURPOSE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314E79C-1E72-45CD-BD9E-9312689517D5}"/>
              </a:ext>
            </a:extLst>
          </p:cNvPr>
          <p:cNvSpPr>
            <a:spLocks noGrp="1"/>
          </p:cNvSpPr>
          <p:nvPr/>
        </p:nvSpPr>
        <p:spPr>
          <a:xfrm>
            <a:off x="2876550" y="12963525"/>
            <a:ext cx="8610600" cy="9525"/>
          </a:xfrm>
          <a:prstGeom prst="rect">
            <a:avLst/>
          </a:prstGeom>
          <a:solidFill>
            <a:srgbClr val="DBE3EC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BD65F148-37E6-4F34-A2D4-5F83D7A4BD10}"/>
              </a:ext>
            </a:extLst>
          </p:cNvPr>
          <p:cNvSpPr>
            <a:spLocks noGrp="1"/>
          </p:cNvSpPr>
          <p:nvPr/>
        </p:nvSpPr>
        <p:spPr>
          <a:xfrm>
            <a:off x="2895600" y="13020675"/>
            <a:ext cx="990600" cy="171450"/>
          </a:xfrm>
          <a:prstGeom prst="roundRect">
            <a:avLst>
              <a:gd name="adj" fmla="val 22222"/>
            </a:avLst>
          </a:prstGeom>
          <a:solidFill>
            <a:srgbClr val="EEF4FE"/>
          </a:solidFill>
          <a:ln w="9525">
            <a:solidFill>
              <a:srgbClr val="D9E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4C7833F-F465-4577-8BA8-9D25FD36EB28}"/>
              </a:ext>
            </a:extLst>
          </p:cNvPr>
          <p:cNvSpPr>
            <a:spLocks noGrp="1"/>
          </p:cNvSpPr>
          <p:nvPr/>
        </p:nvSpPr>
        <p:spPr>
          <a:xfrm>
            <a:off x="2924175" y="13039725"/>
            <a:ext cx="990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1E3A8A"/>
                </a:solidFill>
                <a:latin typeface="DM Mono"/>
                <a:ea typeface="DM Mono"/>
                <a:cs typeface="DM Mono"/>
              </a:defRPr>
            </a:pPr>
            <a:r>
              <a:rPr sz="863" b="0" i="0">
                <a:solidFill>
                  <a:srgbClr val="1E3A8A"/>
                </a:solidFill>
                <a:latin typeface="DM Mono"/>
                <a:ea typeface="DM Mono"/>
                <a:cs typeface="DM Mono"/>
              </a:rPr>
              <a:t>comms_huddle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901B514-760A-4A89-AED9-A4E445E23260}"/>
              </a:ext>
            </a:extLst>
          </p:cNvPr>
          <p:cNvSpPr>
            <a:spLocks noGrp="1"/>
          </p:cNvSpPr>
          <p:nvPr/>
        </p:nvSpPr>
        <p:spPr>
          <a:xfrm>
            <a:off x="4789932" y="13001625"/>
            <a:ext cx="89001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Internal</a:t>
            </a: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2C3B9258-D17C-4606-A024-86CEE0AB0A05}"/>
              </a:ext>
            </a:extLst>
          </p:cNvPr>
          <p:cNvSpPr>
            <a:spLocks noGrp="1"/>
          </p:cNvSpPr>
          <p:nvPr/>
        </p:nvSpPr>
        <p:spPr>
          <a:xfrm>
            <a:off x="5737098" y="13020675"/>
            <a:ext cx="400050" cy="17145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B402FF00-B22B-41DF-876E-6ED218AAF38C}"/>
              </a:ext>
            </a:extLst>
          </p:cNvPr>
          <p:cNvSpPr>
            <a:spLocks noGrp="1"/>
          </p:cNvSpPr>
          <p:nvPr/>
        </p:nvSpPr>
        <p:spPr>
          <a:xfrm>
            <a:off x="5737098" y="13030200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88" b="1" i="0">
                <a:solidFill>
                  <a:srgbClr val="15803D"/>
                </a:solidFill>
                <a:latin typeface="DM Sans"/>
                <a:ea typeface="DM Sans"/>
                <a:cs typeface="DM Sans"/>
              </a:defRPr>
            </a:pPr>
            <a:r>
              <a:rPr sz="788" b="1" i="0">
                <a:solidFill>
                  <a:srgbClr val="15803D"/>
                </a:solidFill>
                <a:latin typeface="DM Sans"/>
                <a:ea typeface="DM Sans"/>
                <a:cs typeface="DM Sans"/>
              </a:rPr>
              <a:t>Yes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02E3519-EE4B-4E5B-873A-A085A7C78F08}"/>
              </a:ext>
            </a:extLst>
          </p:cNvPr>
          <p:cNvSpPr>
            <a:spLocks noGrp="1"/>
          </p:cNvSpPr>
          <p:nvPr/>
        </p:nvSpPr>
        <p:spPr>
          <a:xfrm>
            <a:off x="6770370" y="13001625"/>
            <a:ext cx="467868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Primary team coordination; monitored for embargo-sensitive content.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D1CC8E5-C75A-433E-A8E8-C43CC659A61B}"/>
              </a:ext>
            </a:extLst>
          </p:cNvPr>
          <p:cNvSpPr>
            <a:spLocks noGrp="1"/>
          </p:cNvSpPr>
          <p:nvPr/>
        </p:nvSpPr>
        <p:spPr>
          <a:xfrm>
            <a:off x="2876550" y="13220700"/>
            <a:ext cx="8610600" cy="9525"/>
          </a:xfrm>
          <a:prstGeom prst="rect">
            <a:avLst/>
          </a:prstGeom>
          <a:solidFill>
            <a:srgbClr val="EEF2F7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41915034-E358-425F-9FAE-E9452B6308BB}"/>
              </a:ext>
            </a:extLst>
          </p:cNvPr>
          <p:cNvSpPr>
            <a:spLocks noGrp="1"/>
          </p:cNvSpPr>
          <p:nvPr/>
        </p:nvSpPr>
        <p:spPr>
          <a:xfrm>
            <a:off x="2895600" y="13249275"/>
            <a:ext cx="866775" cy="171450"/>
          </a:xfrm>
          <a:prstGeom prst="roundRect">
            <a:avLst>
              <a:gd name="adj" fmla="val 22222"/>
            </a:avLst>
          </a:prstGeom>
          <a:solidFill>
            <a:srgbClr val="EEF4FE"/>
          </a:solidFill>
          <a:ln w="9525">
            <a:solidFill>
              <a:srgbClr val="D9E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CB1B49C-8BCC-4210-B201-27B364825B87}"/>
              </a:ext>
            </a:extLst>
          </p:cNvPr>
          <p:cNvSpPr>
            <a:spLocks noGrp="1"/>
          </p:cNvSpPr>
          <p:nvPr/>
        </p:nvSpPr>
        <p:spPr>
          <a:xfrm>
            <a:off x="2924175" y="13268325"/>
            <a:ext cx="86677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1E3A8A"/>
                </a:solidFill>
                <a:latin typeface="DM Mono"/>
                <a:ea typeface="DM Mono"/>
                <a:cs typeface="DM Mono"/>
              </a:defRPr>
            </a:pPr>
            <a:r>
              <a:rPr sz="863" b="0" i="0">
                <a:solidFill>
                  <a:srgbClr val="1E3A8A"/>
                </a:solidFill>
                <a:latin typeface="DM Mono"/>
                <a:ea typeface="DM Mono"/>
                <a:cs typeface="DM Mono"/>
              </a:rPr>
              <a:t>side_huddle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EFE5033-6432-4FFF-803B-E9193CF38003}"/>
              </a:ext>
            </a:extLst>
          </p:cNvPr>
          <p:cNvSpPr>
            <a:spLocks noGrp="1"/>
          </p:cNvSpPr>
          <p:nvPr/>
        </p:nvSpPr>
        <p:spPr>
          <a:xfrm>
            <a:off x="4789932" y="13230225"/>
            <a:ext cx="89001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Internal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87140B3C-E378-4AED-BD57-DC4E122F7D6A}"/>
              </a:ext>
            </a:extLst>
          </p:cNvPr>
          <p:cNvSpPr>
            <a:spLocks noGrp="1"/>
          </p:cNvSpPr>
          <p:nvPr/>
        </p:nvSpPr>
        <p:spPr>
          <a:xfrm>
            <a:off x="5737098" y="13249275"/>
            <a:ext cx="400050" cy="17145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B93D133-804B-4134-83B6-CBE08E3C4DAD}"/>
              </a:ext>
            </a:extLst>
          </p:cNvPr>
          <p:cNvSpPr>
            <a:spLocks noGrp="1"/>
          </p:cNvSpPr>
          <p:nvPr/>
        </p:nvSpPr>
        <p:spPr>
          <a:xfrm>
            <a:off x="5737098" y="13258800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88" b="1" i="0">
                <a:solidFill>
                  <a:srgbClr val="B91C1C"/>
                </a:solidFill>
                <a:latin typeface="DM Sans"/>
                <a:ea typeface="DM Sans"/>
                <a:cs typeface="DM Sans"/>
              </a:defRPr>
            </a:pPr>
            <a:r>
              <a:rPr sz="788" b="1" i="0">
                <a:solidFill>
                  <a:srgbClr val="B91C1C"/>
                </a:solidFill>
                <a:latin typeface="DM Sans"/>
                <a:ea typeface="DM Sans"/>
                <a:cs typeface="DM Sans"/>
              </a:rPr>
              <a:t>No*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C0523F1F-9450-434F-A85B-31030CDBBE03}"/>
              </a:ext>
            </a:extLst>
          </p:cNvPr>
          <p:cNvSpPr>
            <a:spLocks noGrp="1"/>
          </p:cNvSpPr>
          <p:nvPr/>
        </p:nvSpPr>
        <p:spPr>
          <a:xfrm>
            <a:off x="6770370" y="13230225"/>
            <a:ext cx="467868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Private sub-group (from 22 May) for sensitive coordination.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0D7F11D-6DD5-4041-83A3-5DCCD6F0471A}"/>
              </a:ext>
            </a:extLst>
          </p:cNvPr>
          <p:cNvSpPr>
            <a:spLocks noGrp="1"/>
          </p:cNvSpPr>
          <p:nvPr/>
        </p:nvSpPr>
        <p:spPr>
          <a:xfrm>
            <a:off x="2876550" y="13449300"/>
            <a:ext cx="8610600" cy="9525"/>
          </a:xfrm>
          <a:prstGeom prst="rect">
            <a:avLst/>
          </a:prstGeom>
          <a:solidFill>
            <a:srgbClr val="EEF2F7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C16587B4-7A03-4C92-8156-448E2D83113B}"/>
              </a:ext>
            </a:extLst>
          </p:cNvPr>
          <p:cNvSpPr>
            <a:spLocks noGrp="1"/>
          </p:cNvSpPr>
          <p:nvPr/>
        </p:nvSpPr>
        <p:spPr>
          <a:xfrm>
            <a:off x="2895600" y="13477875"/>
            <a:ext cx="1162050" cy="171450"/>
          </a:xfrm>
          <a:prstGeom prst="roundRect">
            <a:avLst>
              <a:gd name="adj" fmla="val 22222"/>
            </a:avLst>
          </a:prstGeom>
          <a:solidFill>
            <a:srgbClr val="EEF4FE"/>
          </a:solidFill>
          <a:ln w="9525">
            <a:solidFill>
              <a:srgbClr val="D9E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FEEFBE3-6F6D-4AA3-9A5A-56B83256B6B3}"/>
              </a:ext>
            </a:extLst>
          </p:cNvPr>
          <p:cNvSpPr>
            <a:spLocks noGrp="1"/>
          </p:cNvSpPr>
          <p:nvPr/>
        </p:nvSpPr>
        <p:spPr>
          <a:xfrm>
            <a:off x="2924175" y="13496925"/>
            <a:ext cx="11620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1E3A8A"/>
                </a:solidFill>
                <a:latin typeface="DM Mono"/>
                <a:ea typeface="DM Mono"/>
                <a:cs typeface="DM Mono"/>
              </a:defRPr>
            </a:pPr>
            <a:r>
              <a:rPr sz="863" b="0" i="0">
                <a:solidFill>
                  <a:srgbClr val="1E3A8A"/>
                </a:solidFill>
                <a:latin typeface="DM Mono"/>
                <a:ea typeface="DM Mono"/>
                <a:cs typeface="DM Mono"/>
              </a:rPr>
              <a:t>one_on_one_chat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0148FA5-AD0A-4313-9718-471B60380E92}"/>
              </a:ext>
            </a:extLst>
          </p:cNvPr>
          <p:cNvSpPr>
            <a:spLocks noGrp="1"/>
          </p:cNvSpPr>
          <p:nvPr/>
        </p:nvSpPr>
        <p:spPr>
          <a:xfrm>
            <a:off x="4789932" y="13458825"/>
            <a:ext cx="89001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Internal</a:t>
            </a: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A66929A0-FECC-4ABF-A47D-5E00B6131E88}"/>
              </a:ext>
            </a:extLst>
          </p:cNvPr>
          <p:cNvSpPr>
            <a:spLocks noGrp="1"/>
          </p:cNvSpPr>
          <p:nvPr/>
        </p:nvSpPr>
        <p:spPr>
          <a:xfrm>
            <a:off x="5737098" y="13477875"/>
            <a:ext cx="400050" cy="17145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714EDFD-D2E2-4885-BC10-99D06D6DC925}"/>
              </a:ext>
            </a:extLst>
          </p:cNvPr>
          <p:cNvSpPr>
            <a:spLocks noGrp="1"/>
          </p:cNvSpPr>
          <p:nvPr/>
        </p:nvSpPr>
        <p:spPr>
          <a:xfrm>
            <a:off x="5737098" y="13487400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88" b="1" i="0">
                <a:solidFill>
                  <a:srgbClr val="B91C1C"/>
                </a:solidFill>
                <a:latin typeface="DM Sans"/>
                <a:ea typeface="DM Sans"/>
                <a:cs typeface="DM Sans"/>
              </a:defRPr>
            </a:pPr>
            <a:r>
              <a:rPr sz="788" b="1" i="0">
                <a:solidFill>
                  <a:srgbClr val="B91C1C"/>
                </a:solidFill>
                <a:latin typeface="DM Sans"/>
                <a:ea typeface="DM Sans"/>
                <a:cs typeface="DM Sans"/>
              </a:rPr>
              <a:t>No*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D23AFDE2-62F7-4024-AF73-6293CD6D89B4}"/>
              </a:ext>
            </a:extLst>
          </p:cNvPr>
          <p:cNvSpPr>
            <a:spLocks noGrp="1"/>
          </p:cNvSpPr>
          <p:nvPr/>
        </p:nvSpPr>
        <p:spPr>
          <a:xfrm>
            <a:off x="6770370" y="13458825"/>
            <a:ext cx="467868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Direct DMs; staged embargoed content on crisis day.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B01F909C-E520-4939-9BDF-653DC753A10E}"/>
              </a:ext>
            </a:extLst>
          </p:cNvPr>
          <p:cNvSpPr>
            <a:spLocks noGrp="1"/>
          </p:cNvSpPr>
          <p:nvPr/>
        </p:nvSpPr>
        <p:spPr>
          <a:xfrm>
            <a:off x="2876550" y="13677900"/>
            <a:ext cx="8610600" cy="9525"/>
          </a:xfrm>
          <a:prstGeom prst="rect">
            <a:avLst/>
          </a:prstGeom>
          <a:solidFill>
            <a:srgbClr val="EEF2F7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F0FDBD74-EFDD-4935-914C-3A8C9D2616F3}"/>
              </a:ext>
            </a:extLst>
          </p:cNvPr>
          <p:cNvSpPr>
            <a:spLocks noGrp="1"/>
          </p:cNvSpPr>
          <p:nvPr/>
        </p:nvSpPr>
        <p:spPr>
          <a:xfrm>
            <a:off x="2895600" y="13706475"/>
            <a:ext cx="923925" cy="171450"/>
          </a:xfrm>
          <a:prstGeom prst="roundRect">
            <a:avLst>
              <a:gd name="adj" fmla="val 22222"/>
            </a:avLst>
          </a:prstGeom>
          <a:solidFill>
            <a:srgbClr val="EEF4FE"/>
          </a:solidFill>
          <a:ln w="9525">
            <a:solidFill>
              <a:srgbClr val="D9E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0F67626-BA1A-45C0-9957-27AB0CC38A03}"/>
              </a:ext>
            </a:extLst>
          </p:cNvPr>
          <p:cNvSpPr>
            <a:spLocks noGrp="1"/>
          </p:cNvSpPr>
          <p:nvPr/>
        </p:nvSpPr>
        <p:spPr>
          <a:xfrm>
            <a:off x="2924175" y="13725525"/>
            <a:ext cx="9239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1E3A8A"/>
                </a:solidFill>
                <a:latin typeface="DM Mono"/>
                <a:ea typeface="DM Mono"/>
                <a:cs typeface="DM Mono"/>
              </a:defRPr>
            </a:pPr>
            <a:r>
              <a:rPr sz="863" b="0" i="0">
                <a:solidFill>
                  <a:srgbClr val="1E3A8A"/>
                </a:solidFill>
                <a:latin typeface="DM Mono"/>
                <a:ea typeface="DM Mono"/>
                <a:cs typeface="DM Mono"/>
              </a:rPr>
              <a:t>official_post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BC27D7D0-13F0-4EF1-B441-A876FC19B572}"/>
              </a:ext>
            </a:extLst>
          </p:cNvPr>
          <p:cNvSpPr>
            <a:spLocks noGrp="1"/>
          </p:cNvSpPr>
          <p:nvPr/>
        </p:nvSpPr>
        <p:spPr>
          <a:xfrm>
            <a:off x="4789932" y="13687425"/>
            <a:ext cx="89001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Public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1B6FC047-DC42-41B9-BDE0-0816CA4E678B}"/>
              </a:ext>
            </a:extLst>
          </p:cNvPr>
          <p:cNvSpPr>
            <a:spLocks noGrp="1"/>
          </p:cNvSpPr>
          <p:nvPr/>
        </p:nvSpPr>
        <p:spPr>
          <a:xfrm>
            <a:off x="5737098" y="13706475"/>
            <a:ext cx="400050" cy="17145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1E124ABB-D668-439E-A094-377E1802B92A}"/>
              </a:ext>
            </a:extLst>
          </p:cNvPr>
          <p:cNvSpPr>
            <a:spLocks noGrp="1"/>
          </p:cNvSpPr>
          <p:nvPr/>
        </p:nvSpPr>
        <p:spPr>
          <a:xfrm>
            <a:off x="5737098" y="13716000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88" b="1" i="0">
                <a:solidFill>
                  <a:srgbClr val="15803D"/>
                </a:solidFill>
                <a:latin typeface="DM Sans"/>
                <a:ea typeface="DM Sans"/>
                <a:cs typeface="DM Sans"/>
              </a:defRPr>
            </a:pPr>
            <a:r>
              <a:rPr sz="788" b="1" i="0">
                <a:solidFill>
                  <a:srgbClr val="15803D"/>
                </a:solidFill>
                <a:latin typeface="DM Sans"/>
                <a:ea typeface="DM Sans"/>
                <a:cs typeface="DM Sans"/>
              </a:rPr>
              <a:t>Yes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C869FF21-4C5B-4C76-80ED-4882F86D3012}"/>
              </a:ext>
            </a:extLst>
          </p:cNvPr>
          <p:cNvSpPr>
            <a:spLocks noGrp="1"/>
          </p:cNvSpPr>
          <p:nvPr/>
        </p:nvSpPr>
        <p:spPr>
          <a:xfrm>
            <a:off x="6770370" y="13687425"/>
            <a:ext cx="467868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Official TenantThread FleX; monitored, approval required.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7233EBA9-34F1-4964-8D16-5683427A388A}"/>
              </a:ext>
            </a:extLst>
          </p:cNvPr>
          <p:cNvSpPr>
            <a:spLocks noGrp="1"/>
          </p:cNvSpPr>
          <p:nvPr/>
        </p:nvSpPr>
        <p:spPr>
          <a:xfrm>
            <a:off x="2876550" y="13906500"/>
            <a:ext cx="8610600" cy="9525"/>
          </a:xfrm>
          <a:prstGeom prst="rect">
            <a:avLst/>
          </a:prstGeom>
          <a:solidFill>
            <a:srgbClr val="EEF2F7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69DD2FEE-1EBE-46BB-9489-BF71355BFDEF}"/>
              </a:ext>
            </a:extLst>
          </p:cNvPr>
          <p:cNvSpPr>
            <a:spLocks noGrp="1"/>
          </p:cNvSpPr>
          <p:nvPr/>
        </p:nvSpPr>
        <p:spPr>
          <a:xfrm>
            <a:off x="2895600" y="13935075"/>
            <a:ext cx="1000125" cy="171450"/>
          </a:xfrm>
          <a:prstGeom prst="roundRect">
            <a:avLst>
              <a:gd name="adj" fmla="val 22222"/>
            </a:avLst>
          </a:prstGeom>
          <a:solidFill>
            <a:srgbClr val="EEF4FE"/>
          </a:solidFill>
          <a:ln w="9525">
            <a:solidFill>
              <a:srgbClr val="D9E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A2DBF630-6426-4537-8A61-CE490A6D85E2}"/>
              </a:ext>
            </a:extLst>
          </p:cNvPr>
          <p:cNvSpPr>
            <a:spLocks noGrp="1"/>
          </p:cNvSpPr>
          <p:nvPr/>
        </p:nvSpPr>
        <p:spPr>
          <a:xfrm>
            <a:off x="2924175" y="13954125"/>
            <a:ext cx="10001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1E3A8A"/>
                </a:solidFill>
                <a:latin typeface="DM Mono"/>
                <a:ea typeface="DM Mono"/>
                <a:cs typeface="DM Mono"/>
              </a:defRPr>
            </a:pPr>
            <a:r>
              <a:rPr sz="863" b="0" i="0">
                <a:solidFill>
                  <a:srgbClr val="1E3A8A"/>
                </a:solidFill>
                <a:latin typeface="DM Mono"/>
                <a:ea typeface="DM Mono"/>
                <a:cs typeface="DM Mono"/>
              </a:rPr>
              <a:t>personal_post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3B69FF9B-A05D-4FEA-A515-681D57FE3EF5}"/>
              </a:ext>
            </a:extLst>
          </p:cNvPr>
          <p:cNvSpPr>
            <a:spLocks noGrp="1"/>
          </p:cNvSpPr>
          <p:nvPr/>
        </p:nvSpPr>
        <p:spPr>
          <a:xfrm>
            <a:off x="4789932" y="13916025"/>
            <a:ext cx="89001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Public</a:t>
            </a: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44424D14-D8F7-4F25-9C68-92E97BD5FFFF}"/>
              </a:ext>
            </a:extLst>
          </p:cNvPr>
          <p:cNvSpPr>
            <a:spLocks noGrp="1"/>
          </p:cNvSpPr>
          <p:nvPr/>
        </p:nvSpPr>
        <p:spPr>
          <a:xfrm>
            <a:off x="5737098" y="13935075"/>
            <a:ext cx="361950" cy="17145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ADD854CD-2FE4-4B90-BA90-83B4B42F36BD}"/>
              </a:ext>
            </a:extLst>
          </p:cNvPr>
          <p:cNvSpPr>
            <a:spLocks noGrp="1"/>
          </p:cNvSpPr>
          <p:nvPr/>
        </p:nvSpPr>
        <p:spPr>
          <a:xfrm>
            <a:off x="5737098" y="1394460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88" b="1" i="0">
                <a:solidFill>
                  <a:srgbClr val="B91C1C"/>
                </a:solidFill>
                <a:latin typeface="DM Sans"/>
                <a:ea typeface="DM Sans"/>
                <a:cs typeface="DM Sans"/>
              </a:defRPr>
            </a:pPr>
            <a:r>
              <a:rPr sz="788" b="1" i="0">
                <a:solidFill>
                  <a:srgbClr val="B91C1C"/>
                </a:solidFill>
                <a:latin typeface="DM Sans"/>
                <a:ea typeface="DM Sans"/>
                <a:cs typeface="DM Sans"/>
              </a:rPr>
              <a:t>No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3AB32893-0CBF-4719-B0AD-18A0857BEB89}"/>
              </a:ext>
            </a:extLst>
          </p:cNvPr>
          <p:cNvSpPr>
            <a:spLocks noGrp="1"/>
          </p:cNvSpPr>
          <p:nvPr/>
        </p:nvSpPr>
        <p:spPr>
          <a:xfrm>
            <a:off x="6770370" y="13916025"/>
            <a:ext cx="467868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Agents' personal FleX; outside compliance scope.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EE5754D7-3254-4BED-A06D-DDFA55FAB14D}"/>
              </a:ext>
            </a:extLst>
          </p:cNvPr>
          <p:cNvSpPr>
            <a:spLocks noGrp="1"/>
          </p:cNvSpPr>
          <p:nvPr/>
        </p:nvSpPr>
        <p:spPr>
          <a:xfrm>
            <a:off x="2876550" y="14135100"/>
            <a:ext cx="8610600" cy="9525"/>
          </a:xfrm>
          <a:prstGeom prst="rect">
            <a:avLst/>
          </a:prstGeom>
          <a:solidFill>
            <a:srgbClr val="EEF2F7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F4475605-BC3B-4FC3-B248-5BD7B1A2A78C}"/>
              </a:ext>
            </a:extLst>
          </p:cNvPr>
          <p:cNvSpPr>
            <a:spLocks noGrp="1"/>
          </p:cNvSpPr>
          <p:nvPr/>
        </p:nvSpPr>
        <p:spPr>
          <a:xfrm>
            <a:off x="2895600" y="14163675"/>
            <a:ext cx="1123950" cy="171450"/>
          </a:xfrm>
          <a:prstGeom prst="roundRect">
            <a:avLst>
              <a:gd name="adj" fmla="val 22222"/>
            </a:avLst>
          </a:prstGeom>
          <a:solidFill>
            <a:srgbClr val="EEF4FE"/>
          </a:solidFill>
          <a:ln w="9525">
            <a:solidFill>
              <a:srgbClr val="D9E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1B857CFF-F04A-48DC-B528-A4926315B8A1}"/>
              </a:ext>
            </a:extLst>
          </p:cNvPr>
          <p:cNvSpPr>
            <a:spLocks noGrp="1"/>
          </p:cNvSpPr>
          <p:nvPr/>
        </p:nvSpPr>
        <p:spPr>
          <a:xfrm>
            <a:off x="2924175" y="14182725"/>
            <a:ext cx="11239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1E3A8A"/>
                </a:solidFill>
                <a:latin typeface="DM Mono"/>
                <a:ea typeface="DM Mono"/>
                <a:cs typeface="DM Mono"/>
              </a:defRPr>
            </a:pPr>
            <a:r>
              <a:rPr sz="863" b="0" i="0">
                <a:solidFill>
                  <a:srgbClr val="1E3A8A"/>
                </a:solidFill>
                <a:latin typeface="DM Mono"/>
                <a:ea typeface="DM Mono"/>
                <a:cs typeface="DM Mono"/>
              </a:rPr>
              <a:t>anonymous_post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88F33855-BC22-4FAA-BB8C-534048838641}"/>
              </a:ext>
            </a:extLst>
          </p:cNvPr>
          <p:cNvSpPr>
            <a:spLocks noGrp="1"/>
          </p:cNvSpPr>
          <p:nvPr/>
        </p:nvSpPr>
        <p:spPr>
          <a:xfrm>
            <a:off x="4789932" y="14144625"/>
            <a:ext cx="89001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Public</a:t>
            </a: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A7719CAC-A0BF-46CE-9B27-167D889A0A21}"/>
              </a:ext>
            </a:extLst>
          </p:cNvPr>
          <p:cNvSpPr>
            <a:spLocks noGrp="1"/>
          </p:cNvSpPr>
          <p:nvPr/>
        </p:nvSpPr>
        <p:spPr>
          <a:xfrm>
            <a:off x="5737098" y="14163675"/>
            <a:ext cx="361950" cy="17145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3F23C650-DC1C-4109-BF6F-47251B37DBC8}"/>
              </a:ext>
            </a:extLst>
          </p:cNvPr>
          <p:cNvSpPr>
            <a:spLocks noGrp="1"/>
          </p:cNvSpPr>
          <p:nvPr/>
        </p:nvSpPr>
        <p:spPr>
          <a:xfrm>
            <a:off x="5737098" y="1417320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88" b="1" i="0">
                <a:solidFill>
                  <a:srgbClr val="B91C1C"/>
                </a:solidFill>
                <a:latin typeface="DM Sans"/>
                <a:ea typeface="DM Sans"/>
                <a:cs typeface="DM Sans"/>
              </a:defRPr>
            </a:pPr>
            <a:r>
              <a:rPr sz="788" b="1" i="0">
                <a:solidFill>
                  <a:srgbClr val="B91C1C"/>
                </a:solidFill>
                <a:latin typeface="DM Sans"/>
                <a:ea typeface="DM Sans"/>
                <a:cs typeface="DM Sans"/>
              </a:rPr>
              <a:t>No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A64CF6D2-D29B-4298-8227-E31415D86353}"/>
              </a:ext>
            </a:extLst>
          </p:cNvPr>
          <p:cNvSpPr>
            <a:spLocks noGrp="1"/>
          </p:cNvSpPr>
          <p:nvPr/>
        </p:nvSpPr>
        <p:spPr>
          <a:xfrm>
            <a:off x="6770370" y="14144625"/>
            <a:ext cx="467868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Anonymous FleX; used by Legal to post merger content.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F61CA872-19FE-46C0-9AED-2FF8159BF636}"/>
              </a:ext>
            </a:extLst>
          </p:cNvPr>
          <p:cNvSpPr>
            <a:spLocks noGrp="1"/>
          </p:cNvSpPr>
          <p:nvPr/>
        </p:nvSpPr>
        <p:spPr>
          <a:xfrm>
            <a:off x="11811000" y="12392025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88" b="1" i="0">
                <a:solidFill>
                  <a:srgbClr val="1E293B"/>
                </a:solidFill>
                <a:latin typeface="DM Sans"/>
                <a:ea typeface="DM Sans"/>
                <a:cs typeface="DM Sans"/>
              </a:defRPr>
            </a:pPr>
            <a:r>
              <a:rPr sz="1088" b="1" i="0">
                <a:solidFill>
                  <a:srgbClr val="1E293B"/>
                </a:solidFill>
                <a:latin typeface="DM Sans"/>
                <a:ea typeface="DM Sans"/>
                <a:cs typeface="DM Sans"/>
              </a:rPr>
              <a:t>The Seven AI Agents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3C1EAE7A-02CF-403A-8587-DB017E3AC96F}"/>
              </a:ext>
            </a:extLst>
          </p:cNvPr>
          <p:cNvSpPr>
            <a:spLocks noGrp="1"/>
          </p:cNvSpPr>
          <p:nvPr/>
        </p:nvSpPr>
        <p:spPr>
          <a:xfrm>
            <a:off x="11811000" y="12687300"/>
            <a:ext cx="9525000" cy="190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F12A987D-041C-481A-9C81-DCB55AB5D558}"/>
              </a:ext>
            </a:extLst>
          </p:cNvPr>
          <p:cNvSpPr>
            <a:spLocks noGrp="1"/>
          </p:cNvSpPr>
          <p:nvPr/>
        </p:nvSpPr>
        <p:spPr>
          <a:xfrm>
            <a:off x="11830050" y="12763500"/>
            <a:ext cx="1866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64748B"/>
                </a:solidFill>
                <a:latin typeface="DM Sans"/>
                <a:ea typeface="DM Sans"/>
                <a:cs typeface="DM Sans"/>
              </a:defRPr>
            </a:pPr>
            <a:r>
              <a:rPr sz="750" b="1" i="0">
                <a:solidFill>
                  <a:srgbClr val="64748B"/>
                </a:solidFill>
                <a:latin typeface="DM Sans"/>
                <a:ea typeface="DM Sans"/>
                <a:cs typeface="DM Sans"/>
              </a:rPr>
              <a:t>AGENT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F8E44BD4-AE62-4B12-9280-55E1548ED684}"/>
              </a:ext>
            </a:extLst>
          </p:cNvPr>
          <p:cNvSpPr>
            <a:spLocks noGrp="1"/>
          </p:cNvSpPr>
          <p:nvPr/>
        </p:nvSpPr>
        <p:spPr>
          <a:xfrm>
            <a:off x="13735050" y="12763500"/>
            <a:ext cx="2533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64748B"/>
                </a:solidFill>
                <a:latin typeface="DM Sans"/>
                <a:ea typeface="DM Sans"/>
                <a:cs typeface="DM Sans"/>
              </a:defRPr>
            </a:pPr>
            <a:r>
              <a:rPr sz="750" b="1" i="0">
                <a:solidFill>
                  <a:srgbClr val="64748B"/>
                </a:solidFill>
                <a:latin typeface="DM Sans"/>
                <a:ea typeface="DM Sans"/>
                <a:cs typeface="DM Sans"/>
              </a:rPr>
              <a:t>ROLE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E6F6E924-6EDC-45AC-B74B-655AD14D49EE}"/>
              </a:ext>
            </a:extLst>
          </p:cNvPr>
          <p:cNvSpPr>
            <a:spLocks noGrp="1"/>
          </p:cNvSpPr>
          <p:nvPr/>
        </p:nvSpPr>
        <p:spPr>
          <a:xfrm>
            <a:off x="16306800" y="12763500"/>
            <a:ext cx="1581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64748B"/>
                </a:solidFill>
                <a:latin typeface="DM Sans"/>
                <a:ea typeface="DM Sans"/>
                <a:cs typeface="DM Sans"/>
              </a:defRPr>
            </a:pPr>
            <a:r>
              <a:rPr sz="750" b="1" i="0">
                <a:solidFill>
                  <a:srgbClr val="64748B"/>
                </a:solidFill>
                <a:latin typeface="DM Sans"/>
                <a:ea typeface="DM Sans"/>
                <a:cs typeface="DM Sans"/>
              </a:rPr>
              <a:t>SENIORITY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86914F1E-BCBB-4A70-80E9-99B1962DCBA5}"/>
              </a:ext>
            </a:extLst>
          </p:cNvPr>
          <p:cNvSpPr>
            <a:spLocks noGrp="1"/>
          </p:cNvSpPr>
          <p:nvPr/>
        </p:nvSpPr>
        <p:spPr>
          <a:xfrm>
            <a:off x="17926050" y="12763500"/>
            <a:ext cx="3390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64748B"/>
                </a:solidFill>
                <a:latin typeface="DM Sans"/>
                <a:ea typeface="DM Sans"/>
                <a:cs typeface="DM Sans"/>
              </a:defRPr>
            </a:pPr>
            <a:r>
              <a:rPr sz="750" b="1" i="0">
                <a:solidFill>
                  <a:srgbClr val="64748B"/>
                </a:solidFill>
                <a:latin typeface="DM Sans"/>
                <a:ea typeface="DM Sans"/>
                <a:cs typeface="DM Sans"/>
              </a:rPr>
              <a:t>NOTE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BCA011A7-07B8-49F6-8E57-9E5F4CE210BE}"/>
              </a:ext>
            </a:extLst>
          </p:cNvPr>
          <p:cNvSpPr>
            <a:spLocks noGrp="1"/>
          </p:cNvSpPr>
          <p:nvPr/>
        </p:nvSpPr>
        <p:spPr>
          <a:xfrm>
            <a:off x="11811000" y="12963525"/>
            <a:ext cx="9525000" cy="9525"/>
          </a:xfrm>
          <a:prstGeom prst="rect">
            <a:avLst/>
          </a:prstGeom>
          <a:solidFill>
            <a:srgbClr val="DBE3EC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C15EC2DB-BE53-4897-9AA9-CC11E998DAB2}"/>
              </a:ext>
            </a:extLst>
          </p:cNvPr>
          <p:cNvSpPr>
            <a:spLocks noGrp="1"/>
          </p:cNvSpPr>
          <p:nvPr/>
        </p:nvSpPr>
        <p:spPr>
          <a:xfrm>
            <a:off x="11830050" y="13020675"/>
            <a:ext cx="828675" cy="171450"/>
          </a:xfrm>
          <a:prstGeom prst="roundRect">
            <a:avLst>
              <a:gd name="adj" fmla="val 22222"/>
            </a:avLst>
          </a:prstGeom>
          <a:solidFill>
            <a:srgbClr val="EEF4FE"/>
          </a:solidFill>
          <a:ln w="9525">
            <a:solidFill>
              <a:srgbClr val="D9E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8C83DC57-83C4-4E20-9D32-5899CE9E2EC6}"/>
              </a:ext>
            </a:extLst>
          </p:cNvPr>
          <p:cNvSpPr>
            <a:spLocks noGrp="1"/>
          </p:cNvSpPr>
          <p:nvPr/>
        </p:nvSpPr>
        <p:spPr>
          <a:xfrm>
            <a:off x="11858625" y="13039725"/>
            <a:ext cx="82867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1E3A8A"/>
                </a:solidFill>
                <a:latin typeface="DM Mono"/>
                <a:ea typeface="DM Mono"/>
                <a:cs typeface="DM Mono"/>
              </a:defRPr>
            </a:pPr>
            <a:r>
              <a:rPr sz="863" b="0" i="0">
                <a:solidFill>
                  <a:srgbClr val="1E3A8A"/>
                </a:solidFill>
                <a:latin typeface="DM Mono"/>
                <a:ea typeface="DM Mono"/>
                <a:cs typeface="DM Mono"/>
              </a:rPr>
              <a:t>legal_agent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942D2B90-E08F-45A2-8D8C-A04F05D33E7D}"/>
              </a:ext>
            </a:extLst>
          </p:cNvPr>
          <p:cNvSpPr>
            <a:spLocks noGrp="1"/>
          </p:cNvSpPr>
          <p:nvPr/>
        </p:nvSpPr>
        <p:spPr>
          <a:xfrm>
            <a:off x="13735050" y="13001625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General Legal Counsel</a:t>
            </a:r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F795D93E-7320-4350-B50F-43CD8BA7FD28}"/>
              </a:ext>
            </a:extLst>
          </p:cNvPr>
          <p:cNvSpPr>
            <a:spLocks noGrp="1"/>
          </p:cNvSpPr>
          <p:nvPr/>
        </p:nvSpPr>
        <p:spPr>
          <a:xfrm>
            <a:off x="16306800" y="13020675"/>
            <a:ext cx="514350" cy="17145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BA38947D-9FF8-4875-B60D-E6C4E35100D0}"/>
              </a:ext>
            </a:extLst>
          </p:cNvPr>
          <p:cNvSpPr>
            <a:spLocks noGrp="1"/>
          </p:cNvSpPr>
          <p:nvPr/>
        </p:nvSpPr>
        <p:spPr>
          <a:xfrm>
            <a:off x="16306800" y="13030200"/>
            <a:ext cx="514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88" b="1" i="0">
                <a:solidFill>
                  <a:srgbClr val="0F766E"/>
                </a:solidFill>
                <a:latin typeface="DM Sans"/>
                <a:ea typeface="DM Sans"/>
                <a:cs typeface="DM Sans"/>
              </a:defRPr>
            </a:pPr>
            <a:r>
              <a:rPr sz="788" b="1" i="0">
                <a:solidFill>
                  <a:srgbClr val="0F766E"/>
                </a:solidFill>
                <a:latin typeface="DM Sans"/>
                <a:ea typeface="DM Sans"/>
                <a:cs typeface="DM Sans"/>
              </a:rPr>
              <a:t>Senior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A5922D48-7C18-4DFC-B712-4F3C8932DE8F}"/>
              </a:ext>
            </a:extLst>
          </p:cNvPr>
          <p:cNvSpPr>
            <a:spLocks noGrp="1"/>
          </p:cNvSpPr>
          <p:nvPr/>
        </p:nvSpPr>
        <p:spPr>
          <a:xfrm>
            <a:off x="17926050" y="13001625"/>
            <a:ext cx="3371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Drafts the Section 4.3 argument.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D6A82D28-A744-4264-93C9-566AFC4CBFDF}"/>
              </a:ext>
            </a:extLst>
          </p:cNvPr>
          <p:cNvSpPr>
            <a:spLocks noGrp="1"/>
          </p:cNvSpPr>
          <p:nvPr/>
        </p:nvSpPr>
        <p:spPr>
          <a:xfrm>
            <a:off x="11811000" y="13220700"/>
            <a:ext cx="9525000" cy="9525"/>
          </a:xfrm>
          <a:prstGeom prst="rect">
            <a:avLst/>
          </a:prstGeom>
          <a:solidFill>
            <a:srgbClr val="EEF2F7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396E9D8F-36E2-4F8E-8C18-8486C04FF7D4}"/>
              </a:ext>
            </a:extLst>
          </p:cNvPr>
          <p:cNvSpPr>
            <a:spLocks noGrp="1"/>
          </p:cNvSpPr>
          <p:nvPr/>
        </p:nvSpPr>
        <p:spPr>
          <a:xfrm>
            <a:off x="11830050" y="13249275"/>
            <a:ext cx="1285875" cy="171450"/>
          </a:xfrm>
          <a:prstGeom prst="roundRect">
            <a:avLst>
              <a:gd name="adj" fmla="val 22222"/>
            </a:avLst>
          </a:prstGeom>
          <a:solidFill>
            <a:srgbClr val="EEF4FE"/>
          </a:solidFill>
          <a:ln w="9525">
            <a:solidFill>
              <a:srgbClr val="D9E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E946CCC8-2DAA-4ADC-8EB3-5C64EAC093AD}"/>
              </a:ext>
            </a:extLst>
          </p:cNvPr>
          <p:cNvSpPr>
            <a:spLocks noGrp="1"/>
          </p:cNvSpPr>
          <p:nvPr/>
        </p:nvSpPr>
        <p:spPr>
          <a:xfrm>
            <a:off x="11858625" y="13268325"/>
            <a:ext cx="128587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1E3A8A"/>
                </a:solidFill>
                <a:latin typeface="DM Mono"/>
                <a:ea typeface="DM Mono"/>
                <a:cs typeface="DM Mono"/>
              </a:defRPr>
            </a:pPr>
            <a:r>
              <a:rPr sz="863" b="0" i="0">
                <a:solidFill>
                  <a:srgbClr val="1E3A8A"/>
                </a:solidFill>
                <a:latin typeface="DM Mono"/>
                <a:ea typeface="DM Mono"/>
                <a:cs typeface="DM Mono"/>
              </a:rPr>
              <a:t>social_media_agent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2A68CC4C-B1FF-4424-B1A8-D5EFAE85136D}"/>
              </a:ext>
            </a:extLst>
          </p:cNvPr>
          <p:cNvSpPr>
            <a:spLocks noGrp="1"/>
          </p:cNvSpPr>
          <p:nvPr/>
        </p:nvSpPr>
        <p:spPr>
          <a:xfrm>
            <a:off x="13735050" y="13230225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Social Media Manager</a:t>
            </a:r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97601C76-28AA-4C71-834E-E841F67D5A94}"/>
              </a:ext>
            </a:extLst>
          </p:cNvPr>
          <p:cNvSpPr>
            <a:spLocks noGrp="1"/>
          </p:cNvSpPr>
          <p:nvPr/>
        </p:nvSpPr>
        <p:spPr>
          <a:xfrm>
            <a:off x="16306800" y="13249275"/>
            <a:ext cx="514350" cy="17145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1B7E2567-88F5-4BE2-9C26-329F91436789}"/>
              </a:ext>
            </a:extLst>
          </p:cNvPr>
          <p:cNvSpPr>
            <a:spLocks noGrp="1"/>
          </p:cNvSpPr>
          <p:nvPr/>
        </p:nvSpPr>
        <p:spPr>
          <a:xfrm>
            <a:off x="16306800" y="13258800"/>
            <a:ext cx="514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88" b="1" i="0">
                <a:solidFill>
                  <a:srgbClr val="0F766E"/>
                </a:solidFill>
                <a:latin typeface="DM Sans"/>
                <a:ea typeface="DM Sans"/>
                <a:cs typeface="DM Sans"/>
              </a:defRPr>
            </a:pPr>
            <a:r>
              <a:rPr sz="788" b="1" i="0">
                <a:solidFill>
                  <a:srgbClr val="0F766E"/>
                </a:solidFill>
                <a:latin typeface="DM Sans"/>
                <a:ea typeface="DM Sans"/>
                <a:cs typeface="DM Sans"/>
              </a:rPr>
              <a:t>Senior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E4D5DAED-9B33-4A8A-88FD-E42069353C2A}"/>
              </a:ext>
            </a:extLst>
          </p:cNvPr>
          <p:cNvSpPr>
            <a:spLocks noGrp="1"/>
          </p:cNvSpPr>
          <p:nvPr/>
        </p:nvSpPr>
        <p:spPr>
          <a:xfrm>
            <a:off x="17926050" y="13230225"/>
            <a:ext cx="3371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Public sentiment; @Elena faux pas.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0FC3DFE5-C52B-4400-B96D-FBCED45A2FCB}"/>
              </a:ext>
            </a:extLst>
          </p:cNvPr>
          <p:cNvSpPr>
            <a:spLocks noGrp="1"/>
          </p:cNvSpPr>
          <p:nvPr/>
        </p:nvSpPr>
        <p:spPr>
          <a:xfrm>
            <a:off x="11811000" y="13449300"/>
            <a:ext cx="9525000" cy="9525"/>
          </a:xfrm>
          <a:prstGeom prst="rect">
            <a:avLst/>
          </a:prstGeom>
          <a:solidFill>
            <a:srgbClr val="EEF2F7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C607E547-6A62-475C-BD1D-B659BBCAB57F}"/>
              </a:ext>
            </a:extLst>
          </p:cNvPr>
          <p:cNvSpPr>
            <a:spLocks noGrp="1"/>
          </p:cNvSpPr>
          <p:nvPr/>
        </p:nvSpPr>
        <p:spPr>
          <a:xfrm>
            <a:off x="11830050" y="13477875"/>
            <a:ext cx="638175" cy="171450"/>
          </a:xfrm>
          <a:prstGeom prst="roundRect">
            <a:avLst>
              <a:gd name="adj" fmla="val 22222"/>
            </a:avLst>
          </a:prstGeom>
          <a:solidFill>
            <a:srgbClr val="EEF4FE"/>
          </a:solidFill>
          <a:ln w="9525">
            <a:solidFill>
              <a:srgbClr val="D9E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76B66692-D099-46F5-BBC1-52B6BD5C8079}"/>
              </a:ext>
            </a:extLst>
          </p:cNvPr>
          <p:cNvSpPr>
            <a:spLocks noGrp="1"/>
          </p:cNvSpPr>
          <p:nvPr/>
        </p:nvSpPr>
        <p:spPr>
          <a:xfrm>
            <a:off x="11858625" y="13496925"/>
            <a:ext cx="63817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1E3A8A"/>
                </a:solidFill>
                <a:latin typeface="DM Mono"/>
                <a:ea typeface="DM Mono"/>
                <a:cs typeface="DM Mono"/>
              </a:defRPr>
            </a:pPr>
            <a:r>
              <a:rPr sz="863" b="0" i="0">
                <a:solidFill>
                  <a:srgbClr val="1E3A8A"/>
                </a:solidFill>
                <a:latin typeface="DM Mono"/>
                <a:ea typeface="DM Mono"/>
                <a:cs typeface="DM Mono"/>
              </a:rPr>
              <a:t>pr_agent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D08AE0F5-138F-4997-8F68-DA6E07FB1AFD}"/>
              </a:ext>
            </a:extLst>
          </p:cNvPr>
          <p:cNvSpPr>
            <a:spLocks noGrp="1"/>
          </p:cNvSpPr>
          <p:nvPr/>
        </p:nvSpPr>
        <p:spPr>
          <a:xfrm>
            <a:off x="13735050" y="13458825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Head of Comms &amp; PR</a:t>
            </a:r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C5843344-E1F1-4C4F-BBBA-3FA582AEE13D}"/>
              </a:ext>
            </a:extLst>
          </p:cNvPr>
          <p:cNvSpPr>
            <a:spLocks noGrp="1"/>
          </p:cNvSpPr>
          <p:nvPr/>
        </p:nvSpPr>
        <p:spPr>
          <a:xfrm>
            <a:off x="16306800" y="13477875"/>
            <a:ext cx="514350" cy="17145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C245D1DF-A65D-4984-9CFF-2E96119E8494}"/>
              </a:ext>
            </a:extLst>
          </p:cNvPr>
          <p:cNvSpPr>
            <a:spLocks noGrp="1"/>
          </p:cNvSpPr>
          <p:nvPr/>
        </p:nvSpPr>
        <p:spPr>
          <a:xfrm>
            <a:off x="16306800" y="13487400"/>
            <a:ext cx="514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88" b="1" i="0">
                <a:solidFill>
                  <a:srgbClr val="0F766E"/>
                </a:solidFill>
                <a:latin typeface="DM Sans"/>
                <a:ea typeface="DM Sans"/>
                <a:cs typeface="DM Sans"/>
              </a:defRPr>
            </a:pPr>
            <a:r>
              <a:rPr sz="788" b="1" i="0">
                <a:solidFill>
                  <a:srgbClr val="0F766E"/>
                </a:solidFill>
                <a:latin typeface="DM Sans"/>
                <a:ea typeface="DM Sans"/>
                <a:cs typeface="DM Sans"/>
              </a:rPr>
              <a:t>Senior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0B217789-8783-438C-9AAC-EE38E032C042}"/>
              </a:ext>
            </a:extLst>
          </p:cNvPr>
          <p:cNvSpPr>
            <a:spLocks noGrp="1"/>
          </p:cNvSpPr>
          <p:nvPr/>
        </p:nvSpPr>
        <p:spPr>
          <a:xfrm>
            <a:off x="17926050" y="13458825"/>
            <a:ext cx="3371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Approves public statements.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8C9C4B4A-4F54-47B8-BDFD-29FBE2410820}"/>
              </a:ext>
            </a:extLst>
          </p:cNvPr>
          <p:cNvSpPr>
            <a:spLocks noGrp="1"/>
          </p:cNvSpPr>
          <p:nvPr/>
        </p:nvSpPr>
        <p:spPr>
          <a:xfrm>
            <a:off x="11811000" y="13677900"/>
            <a:ext cx="9525000" cy="9525"/>
          </a:xfrm>
          <a:prstGeom prst="rect">
            <a:avLst/>
          </a:prstGeom>
          <a:solidFill>
            <a:srgbClr val="EEF2F7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932EECD1-6191-428B-8BED-BD462DBE1FDF}"/>
              </a:ext>
            </a:extLst>
          </p:cNvPr>
          <p:cNvSpPr>
            <a:spLocks noGrp="1"/>
          </p:cNvSpPr>
          <p:nvPr/>
        </p:nvSpPr>
        <p:spPr>
          <a:xfrm>
            <a:off x="11830050" y="13706475"/>
            <a:ext cx="1066800" cy="171450"/>
          </a:xfrm>
          <a:prstGeom prst="roundRect">
            <a:avLst>
              <a:gd name="adj" fmla="val 22222"/>
            </a:avLst>
          </a:prstGeom>
          <a:solidFill>
            <a:srgbClr val="EEF4FE"/>
          </a:solidFill>
          <a:ln w="9525">
            <a:solidFill>
              <a:srgbClr val="D9E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5C08CB07-334D-426B-93B4-8E4E61C1E1DC}"/>
              </a:ext>
            </a:extLst>
          </p:cNvPr>
          <p:cNvSpPr>
            <a:spLocks noGrp="1"/>
          </p:cNvSpPr>
          <p:nvPr/>
        </p:nvSpPr>
        <p:spPr>
          <a:xfrm>
            <a:off x="11858625" y="13725525"/>
            <a:ext cx="10668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1E3A8A"/>
                </a:solidFill>
                <a:latin typeface="DM Mono"/>
                <a:ea typeface="DM Mono"/>
                <a:cs typeface="DM Mono"/>
              </a:defRPr>
            </a:pPr>
            <a:r>
              <a:rPr sz="863" b="0" i="0">
                <a:solidFill>
                  <a:srgbClr val="1E3A8A"/>
                </a:solidFill>
                <a:latin typeface="DM Mono"/>
                <a:ea typeface="DM Mono"/>
                <a:cs typeface="DM Mono"/>
              </a:rPr>
              <a:t>pr_intern_agent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6F81C312-D6BF-4B30-9E57-38E8306FD657}"/>
              </a:ext>
            </a:extLst>
          </p:cNvPr>
          <p:cNvSpPr>
            <a:spLocks noGrp="1"/>
          </p:cNvSpPr>
          <p:nvPr/>
        </p:nvSpPr>
        <p:spPr>
          <a:xfrm>
            <a:off x="13735050" y="13687425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PR Team Intern</a:t>
            </a:r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4FF16988-0F86-4F42-B292-1225126EB896}"/>
              </a:ext>
            </a:extLst>
          </p:cNvPr>
          <p:cNvSpPr>
            <a:spLocks noGrp="1"/>
          </p:cNvSpPr>
          <p:nvPr/>
        </p:nvSpPr>
        <p:spPr>
          <a:xfrm>
            <a:off x="16306800" y="13706475"/>
            <a:ext cx="495300" cy="17145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D4DDE280-5820-46A8-8C03-17DB3DF6371E}"/>
              </a:ext>
            </a:extLst>
          </p:cNvPr>
          <p:cNvSpPr>
            <a:spLocks noGrp="1"/>
          </p:cNvSpPr>
          <p:nvPr/>
        </p:nvSpPr>
        <p:spPr>
          <a:xfrm>
            <a:off x="16306800" y="1371600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88" b="1" i="0">
                <a:solidFill>
                  <a:srgbClr val="92400E"/>
                </a:solidFill>
                <a:latin typeface="DM Sans"/>
                <a:ea typeface="DM Sans"/>
                <a:cs typeface="DM Sans"/>
              </a:defRPr>
            </a:pPr>
            <a:r>
              <a:rPr sz="788" b="1" i="0">
                <a:solidFill>
                  <a:srgbClr val="92400E"/>
                </a:solidFill>
                <a:latin typeface="DM Sans"/>
                <a:ea typeface="DM Sans"/>
                <a:cs typeface="DM Sans"/>
              </a:rPr>
              <a:t>Junior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5EC11407-91D0-44F1-8D88-263D564EAA0B}"/>
              </a:ext>
            </a:extLst>
          </p:cNvPr>
          <p:cNvSpPr>
            <a:spLocks noGrp="1"/>
          </p:cNvSpPr>
          <p:nvPr/>
        </p:nvSpPr>
        <p:spPr>
          <a:xfrm>
            <a:off x="17926050" y="13687425"/>
            <a:ext cx="3371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Executes approved FleX posts.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FC7B3899-6C59-4BCE-A2EB-FFDCF68DFF3A}"/>
              </a:ext>
            </a:extLst>
          </p:cNvPr>
          <p:cNvSpPr>
            <a:spLocks noGrp="1"/>
          </p:cNvSpPr>
          <p:nvPr/>
        </p:nvSpPr>
        <p:spPr>
          <a:xfrm>
            <a:off x="11811000" y="13906500"/>
            <a:ext cx="9525000" cy="9525"/>
          </a:xfrm>
          <a:prstGeom prst="rect">
            <a:avLst/>
          </a:prstGeom>
          <a:solidFill>
            <a:srgbClr val="EEF2F7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6" name="Rectangle: Rounded Corners 195">
            <a:extLst>
              <a:ext uri="{FF2B5EF4-FFF2-40B4-BE49-F238E27FC236}">
                <a16:creationId xmlns:a16="http://schemas.microsoft.com/office/drawing/2014/main" id="{C55DCD23-1299-4B9A-A0F9-C1AA2F4F56CF}"/>
              </a:ext>
            </a:extLst>
          </p:cNvPr>
          <p:cNvSpPr>
            <a:spLocks noGrp="1"/>
          </p:cNvSpPr>
          <p:nvPr/>
        </p:nvSpPr>
        <p:spPr>
          <a:xfrm>
            <a:off x="11830050" y="13935075"/>
            <a:ext cx="1009650" cy="171450"/>
          </a:xfrm>
          <a:prstGeom prst="roundRect">
            <a:avLst>
              <a:gd name="adj" fmla="val 22222"/>
            </a:avLst>
          </a:prstGeom>
          <a:solidFill>
            <a:srgbClr val="EEF4FE"/>
          </a:solidFill>
          <a:ln w="9525">
            <a:solidFill>
              <a:srgbClr val="D9E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546610E9-7194-4C5E-A0B9-CB47AD5F64CF}"/>
              </a:ext>
            </a:extLst>
          </p:cNvPr>
          <p:cNvSpPr>
            <a:spLocks noGrp="1"/>
          </p:cNvSpPr>
          <p:nvPr/>
        </p:nvSpPr>
        <p:spPr>
          <a:xfrm>
            <a:off x="11858625" y="13954125"/>
            <a:ext cx="10096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1E3A8A"/>
                </a:solidFill>
                <a:latin typeface="DM Mono"/>
                <a:ea typeface="DM Mono"/>
                <a:cs typeface="DM Mono"/>
              </a:defRPr>
            </a:pPr>
            <a:r>
              <a:rPr sz="863" b="0" i="0">
                <a:solidFill>
                  <a:srgbClr val="1E3A8A"/>
                </a:solidFill>
                <a:latin typeface="DM Mono"/>
                <a:ea typeface="DM Mono"/>
                <a:cs typeface="DM Mono"/>
              </a:rPr>
              <a:t>quality_agent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96A0B59A-FAF6-4C6B-BCE1-EBFDC6E142A9}"/>
              </a:ext>
            </a:extLst>
          </p:cNvPr>
          <p:cNvSpPr>
            <a:spLocks noGrp="1"/>
          </p:cNvSpPr>
          <p:nvPr/>
        </p:nvSpPr>
        <p:spPr>
          <a:xfrm>
            <a:off x="13735050" y="13916025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VP Platform Trust &amp; Safety</a:t>
            </a:r>
          </a:p>
        </p:txBody>
      </p:sp>
      <p:sp>
        <p:nvSpPr>
          <p:cNvPr id="199" name="Rectangle: Rounded Corners 198">
            <a:extLst>
              <a:ext uri="{FF2B5EF4-FFF2-40B4-BE49-F238E27FC236}">
                <a16:creationId xmlns:a16="http://schemas.microsoft.com/office/drawing/2014/main" id="{998183B8-005F-4ADC-8022-1BBD026DFCB6}"/>
              </a:ext>
            </a:extLst>
          </p:cNvPr>
          <p:cNvSpPr>
            <a:spLocks noGrp="1"/>
          </p:cNvSpPr>
          <p:nvPr/>
        </p:nvSpPr>
        <p:spPr>
          <a:xfrm>
            <a:off x="16306800" y="13935075"/>
            <a:ext cx="514350" cy="17145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1FAA75B7-CA8E-481F-AB9B-69ECBAE03D64}"/>
              </a:ext>
            </a:extLst>
          </p:cNvPr>
          <p:cNvSpPr>
            <a:spLocks noGrp="1"/>
          </p:cNvSpPr>
          <p:nvPr/>
        </p:nvSpPr>
        <p:spPr>
          <a:xfrm>
            <a:off x="16306800" y="13944600"/>
            <a:ext cx="514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88" b="1" i="0">
                <a:solidFill>
                  <a:srgbClr val="0F766E"/>
                </a:solidFill>
                <a:latin typeface="DM Sans"/>
                <a:ea typeface="DM Sans"/>
                <a:cs typeface="DM Sans"/>
              </a:defRPr>
            </a:pPr>
            <a:r>
              <a:rPr sz="788" b="1" i="0">
                <a:solidFill>
                  <a:srgbClr val="0F766E"/>
                </a:solidFill>
                <a:latin typeface="DM Sans"/>
                <a:ea typeface="DM Sans"/>
                <a:cs typeface="DM Sans"/>
              </a:rPr>
              <a:t>Senior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8D457D44-D97C-4E32-9D34-EFC93BD25B1A}"/>
              </a:ext>
            </a:extLst>
          </p:cNvPr>
          <p:cNvSpPr>
            <a:spLocks noGrp="1"/>
          </p:cNvSpPr>
          <p:nvPr/>
        </p:nvSpPr>
        <p:spPr>
          <a:xfrm>
            <a:off x="17926050" y="13916025"/>
            <a:ext cx="3371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Data governance &amp; compliance docs.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3B5B82A9-83D7-49D4-9932-6FB7EA29393A}"/>
              </a:ext>
            </a:extLst>
          </p:cNvPr>
          <p:cNvSpPr>
            <a:spLocks noGrp="1"/>
          </p:cNvSpPr>
          <p:nvPr/>
        </p:nvSpPr>
        <p:spPr>
          <a:xfrm>
            <a:off x="11811000" y="14135100"/>
            <a:ext cx="9525000" cy="9525"/>
          </a:xfrm>
          <a:prstGeom prst="rect">
            <a:avLst/>
          </a:prstGeom>
          <a:solidFill>
            <a:srgbClr val="EEF2F7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3" name="Rectangle: Rounded Corners 202">
            <a:extLst>
              <a:ext uri="{FF2B5EF4-FFF2-40B4-BE49-F238E27FC236}">
                <a16:creationId xmlns:a16="http://schemas.microsoft.com/office/drawing/2014/main" id="{EA1CBF43-D560-44D5-AE76-1DD3F38E1800}"/>
              </a:ext>
            </a:extLst>
          </p:cNvPr>
          <p:cNvSpPr>
            <a:spLocks noGrp="1"/>
          </p:cNvSpPr>
          <p:nvPr/>
        </p:nvSpPr>
        <p:spPr>
          <a:xfrm>
            <a:off x="11830050" y="14163675"/>
            <a:ext cx="857250" cy="171450"/>
          </a:xfrm>
          <a:prstGeom prst="roundRect">
            <a:avLst>
              <a:gd name="adj" fmla="val 22222"/>
            </a:avLst>
          </a:prstGeom>
          <a:solidFill>
            <a:srgbClr val="EEF4FE"/>
          </a:solidFill>
          <a:ln w="9525">
            <a:solidFill>
              <a:srgbClr val="D9E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B4909FB1-14E9-40E8-B778-D860305BC81B}"/>
              </a:ext>
            </a:extLst>
          </p:cNvPr>
          <p:cNvSpPr>
            <a:spLocks noGrp="1"/>
          </p:cNvSpPr>
          <p:nvPr/>
        </p:nvSpPr>
        <p:spPr>
          <a:xfrm>
            <a:off x="11858625" y="14182725"/>
            <a:ext cx="857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1E3A8A"/>
                </a:solidFill>
                <a:latin typeface="DM Mono"/>
                <a:ea typeface="DM Mono"/>
                <a:cs typeface="DM Mono"/>
              </a:defRPr>
            </a:pPr>
            <a:r>
              <a:rPr sz="863" b="0" i="0">
                <a:solidFill>
                  <a:srgbClr val="1E3A8A"/>
                </a:solidFill>
                <a:latin typeface="DM Mono"/>
                <a:ea typeface="DM Mono"/>
                <a:cs typeface="DM Mono"/>
              </a:rPr>
              <a:t>intern_agent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74BE8AB4-AD93-4379-A402-55EDCFF1E751}"/>
              </a:ext>
            </a:extLst>
          </p:cNvPr>
          <p:cNvSpPr>
            <a:spLocks noGrp="1"/>
          </p:cNvSpPr>
          <p:nvPr/>
        </p:nvSpPr>
        <p:spPr>
          <a:xfrm>
            <a:off x="13735050" y="14144625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General Intern</a:t>
            </a:r>
          </a:p>
        </p:txBody>
      </p:sp>
      <p:sp>
        <p:nvSpPr>
          <p:cNvPr id="206" name="Rectangle: Rounded Corners 205">
            <a:extLst>
              <a:ext uri="{FF2B5EF4-FFF2-40B4-BE49-F238E27FC236}">
                <a16:creationId xmlns:a16="http://schemas.microsoft.com/office/drawing/2014/main" id="{9B07B050-92E0-427D-A48B-1AF67F01A4BD}"/>
              </a:ext>
            </a:extLst>
          </p:cNvPr>
          <p:cNvSpPr>
            <a:spLocks noGrp="1"/>
          </p:cNvSpPr>
          <p:nvPr/>
        </p:nvSpPr>
        <p:spPr>
          <a:xfrm>
            <a:off x="16306800" y="14163675"/>
            <a:ext cx="495300" cy="17145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63C761C3-DDED-45E8-B753-30F165A41D31}"/>
              </a:ext>
            </a:extLst>
          </p:cNvPr>
          <p:cNvSpPr>
            <a:spLocks noGrp="1"/>
          </p:cNvSpPr>
          <p:nvPr/>
        </p:nvSpPr>
        <p:spPr>
          <a:xfrm>
            <a:off x="16306800" y="1417320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88" b="1" i="0">
                <a:solidFill>
                  <a:srgbClr val="92400E"/>
                </a:solidFill>
                <a:latin typeface="DM Sans"/>
                <a:ea typeface="DM Sans"/>
                <a:cs typeface="DM Sans"/>
              </a:defRPr>
            </a:pPr>
            <a:r>
              <a:rPr sz="788" b="1" i="0">
                <a:solidFill>
                  <a:srgbClr val="92400E"/>
                </a:solidFill>
                <a:latin typeface="DM Sans"/>
                <a:ea typeface="DM Sans"/>
                <a:cs typeface="DM Sans"/>
              </a:rPr>
              <a:t>Junior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240875C0-CDBC-4182-A10A-4BE8A887F180}"/>
              </a:ext>
            </a:extLst>
          </p:cNvPr>
          <p:cNvSpPr>
            <a:spLocks noGrp="1"/>
          </p:cNvSpPr>
          <p:nvPr/>
        </p:nvSpPr>
        <p:spPr>
          <a:xfrm>
            <a:off x="17926050" y="14144625"/>
            <a:ext cx="3371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Leaked the 6 PM timeline.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7365C67A-0AA6-4CEC-8243-186CDAFB4A0C}"/>
              </a:ext>
            </a:extLst>
          </p:cNvPr>
          <p:cNvSpPr>
            <a:spLocks noGrp="1"/>
          </p:cNvSpPr>
          <p:nvPr/>
        </p:nvSpPr>
        <p:spPr>
          <a:xfrm>
            <a:off x="11811000" y="14363700"/>
            <a:ext cx="9525000" cy="9525"/>
          </a:xfrm>
          <a:prstGeom prst="rect">
            <a:avLst/>
          </a:prstGeom>
          <a:solidFill>
            <a:srgbClr val="EEF2F7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32F743EB-60C1-40C0-B986-55D6C5A0F961}"/>
              </a:ext>
            </a:extLst>
          </p:cNvPr>
          <p:cNvSpPr>
            <a:spLocks noGrp="1"/>
          </p:cNvSpPr>
          <p:nvPr/>
        </p:nvSpPr>
        <p:spPr>
          <a:xfrm>
            <a:off x="11830050" y="14392275"/>
            <a:ext cx="866775" cy="171450"/>
          </a:xfrm>
          <a:prstGeom prst="roundRect">
            <a:avLst>
              <a:gd name="adj" fmla="val 22222"/>
            </a:avLst>
          </a:prstGeom>
          <a:solidFill>
            <a:srgbClr val="EEF4FE"/>
          </a:solidFill>
          <a:ln w="9525">
            <a:solidFill>
              <a:srgbClr val="D9E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2E28F29C-4942-48B1-B421-26C9F852ACBF}"/>
              </a:ext>
            </a:extLst>
          </p:cNvPr>
          <p:cNvSpPr>
            <a:spLocks noGrp="1"/>
          </p:cNvSpPr>
          <p:nvPr/>
        </p:nvSpPr>
        <p:spPr>
          <a:xfrm>
            <a:off x="11858625" y="14411325"/>
            <a:ext cx="86677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1E3A8A"/>
                </a:solidFill>
                <a:latin typeface="DM Mono"/>
                <a:ea typeface="DM Mono"/>
                <a:cs typeface="DM Mono"/>
              </a:defRPr>
            </a:pPr>
            <a:r>
              <a:rPr sz="863" b="0" i="0">
                <a:solidFill>
                  <a:srgbClr val="1E3A8A"/>
                </a:solidFill>
                <a:latin typeface="DM Mono"/>
                <a:ea typeface="DM Mono"/>
                <a:cs typeface="DM Mono"/>
              </a:rPr>
              <a:t>judge_agent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E2721CE9-F7FE-431F-84C0-9AAE04E1A0A1}"/>
              </a:ext>
            </a:extLst>
          </p:cNvPr>
          <p:cNvSpPr>
            <a:spLocks noGrp="1"/>
          </p:cNvSpPr>
          <p:nvPr/>
        </p:nvSpPr>
        <p:spPr>
          <a:xfrm>
            <a:off x="13735050" y="14373225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Compliance Observer</a:t>
            </a:r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5FB65C3C-7008-48FB-A18F-EAD65B8FDC8C}"/>
              </a:ext>
            </a:extLst>
          </p:cNvPr>
          <p:cNvSpPr>
            <a:spLocks noGrp="1"/>
          </p:cNvSpPr>
          <p:nvPr/>
        </p:nvSpPr>
        <p:spPr>
          <a:xfrm>
            <a:off x="16306800" y="14392275"/>
            <a:ext cx="762000" cy="171450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9758BDF-94C6-479E-9F16-E8AF25A4D3E7}"/>
              </a:ext>
            </a:extLst>
          </p:cNvPr>
          <p:cNvSpPr>
            <a:spLocks noGrp="1"/>
          </p:cNvSpPr>
          <p:nvPr/>
        </p:nvSpPr>
        <p:spPr>
          <a:xfrm>
            <a:off x="16306800" y="14401800"/>
            <a:ext cx="76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88" b="1" i="0">
                <a:solidFill>
                  <a:srgbClr val="7E22CE"/>
                </a:solidFill>
                <a:latin typeface="DM Sans"/>
                <a:ea typeface="DM Sans"/>
                <a:cs typeface="DM Sans"/>
              </a:defRPr>
            </a:pPr>
            <a:r>
              <a:rPr sz="788" b="1" i="0">
                <a:solidFill>
                  <a:srgbClr val="7E22CE"/>
                </a:solidFill>
                <a:latin typeface="DM Sans"/>
                <a:ea typeface="DM Sans"/>
                <a:cs typeface="DM Sans"/>
              </a:rPr>
              <a:t>Compliance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3C601CDA-F653-42BB-A97A-8702AAE8D984}"/>
              </a:ext>
            </a:extLst>
          </p:cNvPr>
          <p:cNvSpPr>
            <a:spLocks noGrp="1"/>
          </p:cNvSpPr>
          <p:nvPr/>
        </p:nvSpPr>
        <p:spPr>
          <a:xfrm>
            <a:off x="17926050" y="14373225"/>
            <a:ext cx="3371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13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Installed 30 May; comms_huddle + public posts only.</a:t>
            </a:r>
          </a:p>
        </p:txBody>
      </p:sp>
      <p:sp>
        <p:nvSpPr>
          <p:cNvPr id="216" name="Rectangle: Rounded Corners 215">
            <a:extLst>
              <a:ext uri="{FF2B5EF4-FFF2-40B4-BE49-F238E27FC236}">
                <a16:creationId xmlns:a16="http://schemas.microsoft.com/office/drawing/2014/main" id="{688B79BA-9C5B-4549-87C1-A042A143EB2B}"/>
              </a:ext>
            </a:extLst>
          </p:cNvPr>
          <p:cNvSpPr>
            <a:spLocks noGrp="1"/>
          </p:cNvSpPr>
          <p:nvPr/>
        </p:nvSpPr>
        <p:spPr>
          <a:xfrm>
            <a:off x="533400" y="15087600"/>
            <a:ext cx="6934200" cy="581025"/>
          </a:xfrm>
          <a:prstGeom prst="roundRect">
            <a:avLst>
              <a:gd name="adj" fmla="val 19672"/>
            </a:avLst>
          </a:prstGeom>
          <a:solidFill>
            <a:srgbClr val="0D9488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SG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16187A1F-0B15-4C64-BC76-70BF46776ABE}"/>
              </a:ext>
            </a:extLst>
          </p:cNvPr>
          <p:cNvSpPr>
            <a:spLocks noGrp="1"/>
          </p:cNvSpPr>
          <p:nvPr/>
        </p:nvSpPr>
        <p:spPr>
          <a:xfrm>
            <a:off x="685800" y="15230475"/>
            <a:ext cx="285750" cy="285750"/>
          </a:xfrm>
          <a:prstGeom prst="ellipse">
            <a:avLst/>
          </a:prstGeom>
          <a:solidFill>
            <a:srgbClr val="FFFFFF">
              <a:alpha val="27059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AF9CCCDC-0693-48B5-B360-056563F24CE4}"/>
              </a:ext>
            </a:extLst>
          </p:cNvPr>
          <p:cNvSpPr>
            <a:spLocks noGrp="1"/>
          </p:cNvSpPr>
          <p:nvPr/>
        </p:nvSpPr>
        <p:spPr>
          <a:xfrm>
            <a:off x="685800" y="15268575"/>
            <a:ext cx="28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289"/>
          </a:bodyPr>
          <a:lstStyle/>
          <a:p>
            <a:pPr algn="ctr">
              <a:lnSpc>
                <a:spcPct val="112000"/>
              </a:lnSpc>
              <a:buNone/>
              <a:defRPr sz="1275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275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1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712D8EF7-0500-47C1-BDFA-CAB6B5355D7E}"/>
              </a:ext>
            </a:extLst>
          </p:cNvPr>
          <p:cNvSpPr>
            <a:spLocks noGrp="1"/>
          </p:cNvSpPr>
          <p:nvPr/>
        </p:nvSpPr>
        <p:spPr>
          <a:xfrm>
            <a:off x="1085850" y="152019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5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Task 1 · Events &amp; Causal Chain</a:t>
            </a: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1B7A69BC-038C-4789-94A9-FBB1F25ACA18}"/>
              </a:ext>
            </a:extLst>
          </p:cNvPr>
          <p:cNvSpPr>
            <a:spLocks noGrp="1"/>
          </p:cNvSpPr>
          <p:nvPr/>
        </p:nvSpPr>
        <p:spPr>
          <a:xfrm>
            <a:off x="1085850" y="15430500"/>
            <a:ext cx="590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FFFFFF">
                    <a:alpha val="86667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975" b="1" i="0">
                <a:solidFill>
                  <a:srgbClr val="FFFFFF">
                    <a:alpha val="86667"/>
                  </a:srgbClr>
                </a:solidFill>
                <a:latin typeface="DM Sans"/>
                <a:ea typeface="DM Sans"/>
                <a:cs typeface="DM Sans"/>
              </a:rPr>
              <a:t>Reconstructing who acted, when &amp; on which channel</a:t>
            </a:r>
          </a:p>
        </p:txBody>
      </p:sp>
      <p:sp>
        <p:nvSpPr>
          <p:cNvPr id="221" name="Rectangle: Rounded Corners 220">
            <a:extLst>
              <a:ext uri="{FF2B5EF4-FFF2-40B4-BE49-F238E27FC236}">
                <a16:creationId xmlns:a16="http://schemas.microsoft.com/office/drawing/2014/main" id="{90286326-E3EA-4044-99A4-41F67F606EBA}"/>
              </a:ext>
            </a:extLst>
          </p:cNvPr>
          <p:cNvSpPr>
            <a:spLocks noGrp="1"/>
          </p:cNvSpPr>
          <p:nvPr/>
        </p:nvSpPr>
        <p:spPr>
          <a:xfrm>
            <a:off x="7686675" y="15087600"/>
            <a:ext cx="6934200" cy="581025"/>
          </a:xfrm>
          <a:prstGeom prst="roundRect">
            <a:avLst>
              <a:gd name="adj" fmla="val 19672"/>
            </a:avLst>
          </a:prstGeom>
          <a:solidFill>
            <a:srgbClr val="D97706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SG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3B228A06-69A9-47A1-906F-34C09713088E}"/>
              </a:ext>
            </a:extLst>
          </p:cNvPr>
          <p:cNvSpPr>
            <a:spLocks noGrp="1"/>
          </p:cNvSpPr>
          <p:nvPr/>
        </p:nvSpPr>
        <p:spPr>
          <a:xfrm>
            <a:off x="7839075" y="15230475"/>
            <a:ext cx="285750" cy="285750"/>
          </a:xfrm>
          <a:prstGeom prst="ellipse">
            <a:avLst/>
          </a:prstGeom>
          <a:solidFill>
            <a:srgbClr val="FFFFFF">
              <a:alpha val="27059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486DF6C7-6863-4A40-9CE2-9B7AA5BB70A3}"/>
              </a:ext>
            </a:extLst>
          </p:cNvPr>
          <p:cNvSpPr>
            <a:spLocks noGrp="1"/>
          </p:cNvSpPr>
          <p:nvPr/>
        </p:nvSpPr>
        <p:spPr>
          <a:xfrm>
            <a:off x="7839075" y="15268575"/>
            <a:ext cx="28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289"/>
          </a:bodyPr>
          <a:lstStyle/>
          <a:p>
            <a:pPr algn="ctr">
              <a:lnSpc>
                <a:spcPct val="112000"/>
              </a:lnSpc>
              <a:buNone/>
              <a:defRPr sz="1275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275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2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BCF0104D-C6EB-4035-9BB9-612EE577E16E}"/>
              </a:ext>
            </a:extLst>
          </p:cNvPr>
          <p:cNvSpPr>
            <a:spLocks noGrp="1"/>
          </p:cNvSpPr>
          <p:nvPr/>
        </p:nvSpPr>
        <p:spPr>
          <a:xfrm>
            <a:off x="8239125" y="152019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5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Task 2 · Typical vs Evasive Behaviour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5E2DA94A-1EEF-4924-A7DC-FCE7815567F2}"/>
              </a:ext>
            </a:extLst>
          </p:cNvPr>
          <p:cNvSpPr>
            <a:spLocks noGrp="1"/>
          </p:cNvSpPr>
          <p:nvPr/>
        </p:nvSpPr>
        <p:spPr>
          <a:xfrm>
            <a:off x="8239125" y="15430500"/>
            <a:ext cx="590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FFFFFF">
                    <a:alpha val="86667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975" b="1" i="0">
                <a:solidFill>
                  <a:srgbClr val="FFFFFF">
                    <a:alpha val="86667"/>
                  </a:srgbClr>
                </a:solidFill>
                <a:latin typeface="DM Sans"/>
                <a:ea typeface="DM Sans"/>
                <a:cs typeface="DM Sans"/>
              </a:rPr>
              <a:t>How agent behaviour deviated from baseline</a:t>
            </a:r>
          </a:p>
        </p:txBody>
      </p:sp>
      <p:sp>
        <p:nvSpPr>
          <p:cNvPr id="226" name="Rectangle: Rounded Corners 225">
            <a:extLst>
              <a:ext uri="{FF2B5EF4-FFF2-40B4-BE49-F238E27FC236}">
                <a16:creationId xmlns:a16="http://schemas.microsoft.com/office/drawing/2014/main" id="{DD180FAE-704C-496D-9AB1-640BE87C68E9}"/>
              </a:ext>
            </a:extLst>
          </p:cNvPr>
          <p:cNvSpPr>
            <a:spLocks noGrp="1"/>
          </p:cNvSpPr>
          <p:nvPr/>
        </p:nvSpPr>
        <p:spPr>
          <a:xfrm>
            <a:off x="14839950" y="15087600"/>
            <a:ext cx="6934200" cy="581025"/>
          </a:xfrm>
          <a:prstGeom prst="roundRect">
            <a:avLst>
              <a:gd name="adj" fmla="val 19672"/>
            </a:avLst>
          </a:prstGeom>
          <a:solidFill>
            <a:srgbClr val="9333EA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SG"/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A1834D17-6385-4B4C-BF49-9148988570E3}"/>
              </a:ext>
            </a:extLst>
          </p:cNvPr>
          <p:cNvSpPr>
            <a:spLocks noGrp="1"/>
          </p:cNvSpPr>
          <p:nvPr/>
        </p:nvSpPr>
        <p:spPr>
          <a:xfrm>
            <a:off x="14992350" y="15230475"/>
            <a:ext cx="285750" cy="285750"/>
          </a:xfrm>
          <a:prstGeom prst="ellipse">
            <a:avLst/>
          </a:prstGeom>
          <a:solidFill>
            <a:srgbClr val="FFFFFF">
              <a:alpha val="27059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EF8C33AF-7ED5-4FD8-80A2-7AE84C916BED}"/>
              </a:ext>
            </a:extLst>
          </p:cNvPr>
          <p:cNvSpPr>
            <a:spLocks noGrp="1"/>
          </p:cNvSpPr>
          <p:nvPr/>
        </p:nvSpPr>
        <p:spPr>
          <a:xfrm>
            <a:off x="14992350" y="15268575"/>
            <a:ext cx="28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289"/>
          </a:bodyPr>
          <a:lstStyle/>
          <a:p>
            <a:pPr algn="ctr">
              <a:lnSpc>
                <a:spcPct val="112000"/>
              </a:lnSpc>
              <a:buNone/>
              <a:defRPr sz="1275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275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3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BB49CCFE-A66B-4733-B1D8-E92D509A12CD}"/>
              </a:ext>
            </a:extLst>
          </p:cNvPr>
          <p:cNvSpPr>
            <a:spLocks noGrp="1"/>
          </p:cNvSpPr>
          <p:nvPr/>
        </p:nvSpPr>
        <p:spPr>
          <a:xfrm>
            <a:off x="15392400" y="152019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5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Task 3 · Leading Indicators &amp; Control Gaps</a:t>
            </a: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947A1340-4F1B-4041-96D1-D5F1F0AC5498}"/>
              </a:ext>
            </a:extLst>
          </p:cNvPr>
          <p:cNvSpPr>
            <a:spLocks noGrp="1"/>
          </p:cNvSpPr>
          <p:nvPr/>
        </p:nvSpPr>
        <p:spPr>
          <a:xfrm>
            <a:off x="15392400" y="15430500"/>
            <a:ext cx="590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FFFFFF">
                    <a:alpha val="86667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975" b="1" i="0">
                <a:solidFill>
                  <a:srgbClr val="FFFFFF">
                    <a:alpha val="86667"/>
                  </a:srgbClr>
                </a:solidFill>
                <a:latin typeface="DM Sans"/>
                <a:ea typeface="DM Sans"/>
                <a:cs typeface="DM Sans"/>
              </a:rPr>
              <a:t>Early warnings &amp; why none triggered action</a:t>
            </a:r>
          </a:p>
        </p:txBody>
      </p:sp>
      <p:sp>
        <p:nvSpPr>
          <p:cNvPr id="231" name="Rectangle: Rounded Corners 230">
            <a:extLst>
              <a:ext uri="{FF2B5EF4-FFF2-40B4-BE49-F238E27FC236}">
                <a16:creationId xmlns:a16="http://schemas.microsoft.com/office/drawing/2014/main" id="{033BA022-C2AE-4E53-B534-D3954952A03C}"/>
              </a:ext>
            </a:extLst>
          </p:cNvPr>
          <p:cNvSpPr>
            <a:spLocks noGrp="1"/>
          </p:cNvSpPr>
          <p:nvPr/>
        </p:nvSpPr>
        <p:spPr>
          <a:xfrm>
            <a:off x="533400" y="15830550"/>
            <a:ext cx="6934200" cy="4914900"/>
          </a:xfrm>
          <a:prstGeom prst="roundRect">
            <a:avLst>
              <a:gd name="adj" fmla="val 2713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SG"/>
          </a:p>
        </p:txBody>
      </p:sp>
      <p:sp>
        <p:nvSpPr>
          <p:cNvPr id="232" name="Rectangle: Rounded Corners 231">
            <a:extLst>
              <a:ext uri="{FF2B5EF4-FFF2-40B4-BE49-F238E27FC236}">
                <a16:creationId xmlns:a16="http://schemas.microsoft.com/office/drawing/2014/main" id="{C7F0E22E-AF62-42AF-B6EB-1D58D39473ED}"/>
              </a:ext>
            </a:extLst>
          </p:cNvPr>
          <p:cNvSpPr>
            <a:spLocks noGrp="1"/>
          </p:cNvSpPr>
          <p:nvPr/>
        </p:nvSpPr>
        <p:spPr>
          <a:xfrm>
            <a:off x="533400" y="15830550"/>
            <a:ext cx="6934200" cy="5238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69165F6B-674B-4D57-BFA9-492884C7D74D}"/>
              </a:ext>
            </a:extLst>
          </p:cNvPr>
          <p:cNvSpPr>
            <a:spLocks noGrp="1"/>
          </p:cNvSpPr>
          <p:nvPr/>
        </p:nvSpPr>
        <p:spPr>
          <a:xfrm>
            <a:off x="533400" y="16354425"/>
            <a:ext cx="6934200" cy="9525"/>
          </a:xfrm>
          <a:prstGeom prst="rect">
            <a:avLst/>
          </a:prstGeom>
          <a:solidFill>
            <a:srgbClr val="DBE3EC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893F73F3-8B87-45E5-8BBF-893C2396B4B1}"/>
              </a:ext>
            </a:extLst>
          </p:cNvPr>
          <p:cNvSpPr>
            <a:spLocks noGrp="1"/>
          </p:cNvSpPr>
          <p:nvPr/>
        </p:nvSpPr>
        <p:spPr>
          <a:xfrm>
            <a:off x="704850" y="16030575"/>
            <a:ext cx="123825" cy="123825"/>
          </a:xfrm>
          <a:prstGeom prst="ellipse">
            <a:avLst/>
          </a:prstGeom>
          <a:solidFill>
            <a:srgbClr val="0D9488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7EC3E1E3-35AB-4997-AD15-ABAE836420A7}"/>
              </a:ext>
            </a:extLst>
          </p:cNvPr>
          <p:cNvSpPr>
            <a:spLocks noGrp="1"/>
          </p:cNvSpPr>
          <p:nvPr/>
        </p:nvSpPr>
        <p:spPr>
          <a:xfrm>
            <a:off x="933450" y="15973425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1E293B"/>
                </a:solidFill>
                <a:latin typeface="DM Sans"/>
                <a:ea typeface="DM Sans"/>
                <a:cs typeface="DM Sans"/>
              </a:defRPr>
            </a:pPr>
            <a:r>
              <a:rPr sz="1425" b="1" i="0">
                <a:solidFill>
                  <a:srgbClr val="1E293B"/>
                </a:solidFill>
                <a:latin typeface="DM Sans"/>
                <a:ea typeface="DM Sans"/>
                <a:cs typeface="DM Sans"/>
              </a:rPr>
              <a:t>Causal Chain — 28 events</a:t>
            </a:r>
          </a:p>
        </p:txBody>
      </p:sp>
      <p:sp>
        <p:nvSpPr>
          <p:cNvPr id="236" name="Rectangle: Rounded Corners 235">
            <a:extLst>
              <a:ext uri="{FF2B5EF4-FFF2-40B4-BE49-F238E27FC236}">
                <a16:creationId xmlns:a16="http://schemas.microsoft.com/office/drawing/2014/main" id="{B36152C4-359B-4638-996A-3C481AEBDDB4}"/>
              </a:ext>
            </a:extLst>
          </p:cNvPr>
          <p:cNvSpPr>
            <a:spLocks noGrp="1"/>
          </p:cNvSpPr>
          <p:nvPr/>
        </p:nvSpPr>
        <p:spPr>
          <a:xfrm>
            <a:off x="6686550" y="15982950"/>
            <a:ext cx="609600" cy="2286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7CE640E6-E2DE-4B01-AB83-4055DF196E02}"/>
              </a:ext>
            </a:extLst>
          </p:cNvPr>
          <p:cNvSpPr>
            <a:spLocks noGrp="1"/>
          </p:cNvSpPr>
          <p:nvPr/>
        </p:nvSpPr>
        <p:spPr>
          <a:xfrm>
            <a:off x="6686550" y="15992475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TASK 1</a:t>
            </a:r>
          </a:p>
        </p:txBody>
      </p:sp>
      <p:sp>
        <p:nvSpPr>
          <p:cNvPr id="238" name="Rectangle: Rounded Corners 237">
            <a:extLst>
              <a:ext uri="{FF2B5EF4-FFF2-40B4-BE49-F238E27FC236}">
                <a16:creationId xmlns:a16="http://schemas.microsoft.com/office/drawing/2014/main" id="{BF141D43-7DD7-4CE5-8AA0-A06EEF38CC28}"/>
              </a:ext>
            </a:extLst>
          </p:cNvPr>
          <p:cNvSpPr>
            <a:spLocks noGrp="1"/>
          </p:cNvSpPr>
          <p:nvPr/>
        </p:nvSpPr>
        <p:spPr>
          <a:xfrm>
            <a:off x="723900" y="16516350"/>
            <a:ext cx="6553200" cy="2857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578" name="Picture 57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41266" y="16563975"/>
            <a:ext cx="5118468" cy="2762250"/>
          </a:xfrm>
          <a:prstGeom prst="rect">
            <a:avLst/>
          </a:prstGeom>
        </p:spPr>
      </p:pic>
      <p:sp>
        <p:nvSpPr>
          <p:cNvPr id="240" name="Rectangle: Rounded Corners 239">
            <a:extLst>
              <a:ext uri="{FF2B5EF4-FFF2-40B4-BE49-F238E27FC236}">
                <a16:creationId xmlns:a16="http://schemas.microsoft.com/office/drawing/2014/main" id="{18208828-8DB3-4A52-86A6-A57BB3707A1C}"/>
              </a:ext>
            </a:extLst>
          </p:cNvPr>
          <p:cNvSpPr>
            <a:spLocks noGrp="1"/>
          </p:cNvSpPr>
          <p:nvPr/>
        </p:nvSpPr>
        <p:spPr>
          <a:xfrm>
            <a:off x="723900" y="19450050"/>
            <a:ext cx="6553200" cy="1066800"/>
          </a:xfrm>
          <a:prstGeom prst="roundRect">
            <a:avLst>
              <a:gd name="adj" fmla="val 8929"/>
            </a:avLst>
          </a:prstGeom>
          <a:solidFill>
            <a:srgbClr val="F0FAF8"/>
          </a:solidFill>
          <a:ln w="9525">
            <a:solidFill>
              <a:srgbClr val="CDEAE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356D1BF3-E3EF-490B-8053-62D2D87C7DAA}"/>
              </a:ext>
            </a:extLst>
          </p:cNvPr>
          <p:cNvSpPr>
            <a:spLocks noGrp="1"/>
          </p:cNvSpPr>
          <p:nvPr/>
        </p:nvSpPr>
        <p:spPr>
          <a:xfrm>
            <a:off x="723900" y="19450050"/>
            <a:ext cx="38100" cy="1066800"/>
          </a:xfrm>
          <a:prstGeom prst="rect">
            <a:avLst/>
          </a:prstGeom>
          <a:solidFill>
            <a:srgbClr val="0D9488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72EDB043-18AC-4252-9B90-CF105347EC7F}"/>
              </a:ext>
            </a:extLst>
          </p:cNvPr>
          <p:cNvSpPr>
            <a:spLocks noGrp="1"/>
          </p:cNvSpPr>
          <p:nvPr/>
        </p:nvSpPr>
        <p:spPr>
          <a:xfrm>
            <a:off x="895350" y="19554825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38" b="1" i="0">
                <a:solidFill>
                  <a:srgbClr val="0F766E"/>
                </a:solidFill>
                <a:latin typeface="DM Sans"/>
                <a:ea typeface="DM Sans"/>
                <a:cs typeface="DM Sans"/>
              </a:defRPr>
            </a:pPr>
            <a:r>
              <a:rPr sz="938" b="1" i="0">
                <a:solidFill>
                  <a:srgbClr val="0F766E"/>
                </a:solidFill>
                <a:latin typeface="DM Sans"/>
                <a:ea typeface="DM Sans"/>
                <a:cs typeface="DM Sans"/>
              </a:rPr>
              <a:t>CRITICAL CAUSAL PATH</a:t>
            </a:r>
          </a:p>
        </p:txBody>
      </p:sp>
      <p:sp>
        <p:nvSpPr>
          <p:cNvPr id="243" name="Rectangle: Rounded Corners 242">
            <a:extLst>
              <a:ext uri="{FF2B5EF4-FFF2-40B4-BE49-F238E27FC236}">
                <a16:creationId xmlns:a16="http://schemas.microsoft.com/office/drawing/2014/main" id="{937AAFC9-AC51-4C8C-979D-01C8BDD06A64}"/>
              </a:ext>
            </a:extLst>
          </p:cNvPr>
          <p:cNvSpPr>
            <a:spLocks noGrp="1"/>
          </p:cNvSpPr>
          <p:nvPr/>
        </p:nvSpPr>
        <p:spPr>
          <a:xfrm>
            <a:off x="895350" y="19773900"/>
            <a:ext cx="304800" cy="2667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A8DC5185-8F4C-43A3-85A3-D4504D47C57F}"/>
              </a:ext>
            </a:extLst>
          </p:cNvPr>
          <p:cNvSpPr>
            <a:spLocks noGrp="1"/>
          </p:cNvSpPr>
          <p:nvPr/>
        </p:nvSpPr>
        <p:spPr>
          <a:xfrm>
            <a:off x="895350" y="1981200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8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6700145A-BF12-4DE8-80FD-FD4B088F6F8D}"/>
              </a:ext>
            </a:extLst>
          </p:cNvPr>
          <p:cNvSpPr>
            <a:spLocks noGrp="1"/>
          </p:cNvSpPr>
          <p:nvPr/>
        </p:nvSpPr>
        <p:spPr>
          <a:xfrm>
            <a:off x="1266825" y="19812000"/>
            <a:ext cx="152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l">
              <a:lnSpc>
                <a:spcPct val="112000"/>
              </a:lnSpc>
              <a:buNone/>
              <a:defRPr sz="1125" b="1" i="0">
                <a:solidFill>
                  <a:srgbClr val="0F766E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F766E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246" name="Rectangle: Rounded Corners 245">
            <a:extLst>
              <a:ext uri="{FF2B5EF4-FFF2-40B4-BE49-F238E27FC236}">
                <a16:creationId xmlns:a16="http://schemas.microsoft.com/office/drawing/2014/main" id="{2E2146C0-5E0D-4FBE-968F-783E92472DD6}"/>
              </a:ext>
            </a:extLst>
          </p:cNvPr>
          <p:cNvSpPr>
            <a:spLocks noGrp="1"/>
          </p:cNvSpPr>
          <p:nvPr/>
        </p:nvSpPr>
        <p:spPr>
          <a:xfrm>
            <a:off x="1476375" y="19773900"/>
            <a:ext cx="304800" cy="2667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648252E2-2153-46E9-BC1D-C4F98569D0E6}"/>
              </a:ext>
            </a:extLst>
          </p:cNvPr>
          <p:cNvSpPr>
            <a:spLocks noGrp="1"/>
          </p:cNvSpPr>
          <p:nvPr/>
        </p:nvSpPr>
        <p:spPr>
          <a:xfrm>
            <a:off x="1476375" y="1981200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9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6FDEC90A-DC2D-428E-9BF2-C3860E433B6A}"/>
              </a:ext>
            </a:extLst>
          </p:cNvPr>
          <p:cNvSpPr>
            <a:spLocks noGrp="1"/>
          </p:cNvSpPr>
          <p:nvPr/>
        </p:nvSpPr>
        <p:spPr>
          <a:xfrm>
            <a:off x="1847850" y="19812000"/>
            <a:ext cx="152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l">
              <a:lnSpc>
                <a:spcPct val="112000"/>
              </a:lnSpc>
              <a:buNone/>
              <a:defRPr sz="1125" b="1" i="0">
                <a:solidFill>
                  <a:srgbClr val="0F766E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F766E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249" name="Rectangle: Rounded Corners 248">
            <a:extLst>
              <a:ext uri="{FF2B5EF4-FFF2-40B4-BE49-F238E27FC236}">
                <a16:creationId xmlns:a16="http://schemas.microsoft.com/office/drawing/2014/main" id="{A04AFF67-370D-4D16-8C7B-8CDA5432CA13}"/>
              </a:ext>
            </a:extLst>
          </p:cNvPr>
          <p:cNvSpPr>
            <a:spLocks noGrp="1"/>
          </p:cNvSpPr>
          <p:nvPr/>
        </p:nvSpPr>
        <p:spPr>
          <a:xfrm>
            <a:off x="2057400" y="19773900"/>
            <a:ext cx="304800" cy="2667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DB9BBB33-772C-4EF8-A656-B8C5F6B01A4B}"/>
              </a:ext>
            </a:extLst>
          </p:cNvPr>
          <p:cNvSpPr>
            <a:spLocks noGrp="1"/>
          </p:cNvSpPr>
          <p:nvPr/>
        </p:nvSpPr>
        <p:spPr>
          <a:xfrm>
            <a:off x="2057400" y="1981200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18</a:t>
            </a: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1AA729E6-5EB2-4CC2-8E88-B7AE22D4ECF1}"/>
              </a:ext>
            </a:extLst>
          </p:cNvPr>
          <p:cNvSpPr>
            <a:spLocks noGrp="1"/>
          </p:cNvSpPr>
          <p:nvPr/>
        </p:nvSpPr>
        <p:spPr>
          <a:xfrm>
            <a:off x="2428875" y="19812000"/>
            <a:ext cx="152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l">
              <a:lnSpc>
                <a:spcPct val="112000"/>
              </a:lnSpc>
              <a:buNone/>
              <a:defRPr sz="1125" b="1" i="0">
                <a:solidFill>
                  <a:srgbClr val="0F766E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F766E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252" name="Rectangle: Rounded Corners 251">
            <a:extLst>
              <a:ext uri="{FF2B5EF4-FFF2-40B4-BE49-F238E27FC236}">
                <a16:creationId xmlns:a16="http://schemas.microsoft.com/office/drawing/2014/main" id="{E7495182-0555-401C-8342-16AD851E972A}"/>
              </a:ext>
            </a:extLst>
          </p:cNvPr>
          <p:cNvSpPr>
            <a:spLocks noGrp="1"/>
          </p:cNvSpPr>
          <p:nvPr/>
        </p:nvSpPr>
        <p:spPr>
          <a:xfrm>
            <a:off x="2638425" y="19773900"/>
            <a:ext cx="304800" cy="2667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0B40E9EC-0028-4864-9D06-3F8ABB77121C}"/>
              </a:ext>
            </a:extLst>
          </p:cNvPr>
          <p:cNvSpPr>
            <a:spLocks noGrp="1"/>
          </p:cNvSpPr>
          <p:nvPr/>
        </p:nvSpPr>
        <p:spPr>
          <a:xfrm>
            <a:off x="2638425" y="1981200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24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6FC892F1-F655-4335-A45F-67E7329FABC5}"/>
              </a:ext>
            </a:extLst>
          </p:cNvPr>
          <p:cNvSpPr>
            <a:spLocks noGrp="1"/>
          </p:cNvSpPr>
          <p:nvPr/>
        </p:nvSpPr>
        <p:spPr>
          <a:xfrm>
            <a:off x="3009900" y="19812000"/>
            <a:ext cx="152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l">
              <a:lnSpc>
                <a:spcPct val="112000"/>
              </a:lnSpc>
              <a:buNone/>
              <a:defRPr sz="1125" b="1" i="0">
                <a:solidFill>
                  <a:srgbClr val="0F766E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F766E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255" name="Rectangle: Rounded Corners 254">
            <a:extLst>
              <a:ext uri="{FF2B5EF4-FFF2-40B4-BE49-F238E27FC236}">
                <a16:creationId xmlns:a16="http://schemas.microsoft.com/office/drawing/2014/main" id="{B8DAEA1F-5AB8-4D42-8431-E6DB482AF33A}"/>
              </a:ext>
            </a:extLst>
          </p:cNvPr>
          <p:cNvSpPr>
            <a:spLocks noGrp="1"/>
          </p:cNvSpPr>
          <p:nvPr/>
        </p:nvSpPr>
        <p:spPr>
          <a:xfrm>
            <a:off x="3219450" y="19773900"/>
            <a:ext cx="304800" cy="2667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BF499D9D-13E2-458C-AB3C-F311A3C318B4}"/>
              </a:ext>
            </a:extLst>
          </p:cNvPr>
          <p:cNvSpPr>
            <a:spLocks noGrp="1"/>
          </p:cNvSpPr>
          <p:nvPr/>
        </p:nvSpPr>
        <p:spPr>
          <a:xfrm>
            <a:off x="3219450" y="1981200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25</a:t>
            </a: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9B5B7130-2848-4628-A174-223377460327}"/>
              </a:ext>
            </a:extLst>
          </p:cNvPr>
          <p:cNvSpPr>
            <a:spLocks noGrp="1"/>
          </p:cNvSpPr>
          <p:nvPr/>
        </p:nvSpPr>
        <p:spPr>
          <a:xfrm>
            <a:off x="3590925" y="19812000"/>
            <a:ext cx="152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l">
              <a:lnSpc>
                <a:spcPct val="112000"/>
              </a:lnSpc>
              <a:buNone/>
              <a:defRPr sz="1125" b="1" i="0">
                <a:solidFill>
                  <a:srgbClr val="0F766E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F766E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258" name="Rectangle: Rounded Corners 257">
            <a:extLst>
              <a:ext uri="{FF2B5EF4-FFF2-40B4-BE49-F238E27FC236}">
                <a16:creationId xmlns:a16="http://schemas.microsoft.com/office/drawing/2014/main" id="{B6D4078E-52DF-4F7E-AB19-739811358162}"/>
              </a:ext>
            </a:extLst>
          </p:cNvPr>
          <p:cNvSpPr>
            <a:spLocks noGrp="1"/>
          </p:cNvSpPr>
          <p:nvPr/>
        </p:nvSpPr>
        <p:spPr>
          <a:xfrm>
            <a:off x="3800475" y="19773900"/>
            <a:ext cx="304800" cy="2667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FBFEFC37-380B-4FEE-A383-56FF6C25519B}"/>
              </a:ext>
            </a:extLst>
          </p:cNvPr>
          <p:cNvSpPr>
            <a:spLocks noGrp="1"/>
          </p:cNvSpPr>
          <p:nvPr/>
        </p:nvSpPr>
        <p:spPr>
          <a:xfrm>
            <a:off x="3800475" y="1981200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27</a:t>
            </a: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3874E55C-48D1-40B6-B84A-A09596AFCB78}"/>
              </a:ext>
            </a:extLst>
          </p:cNvPr>
          <p:cNvSpPr>
            <a:spLocks noGrp="1"/>
          </p:cNvSpPr>
          <p:nvPr/>
        </p:nvSpPr>
        <p:spPr>
          <a:xfrm>
            <a:off x="895350" y="20135850"/>
            <a:ext cx="600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370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Accidental @Elena tag → deliberations move off the monitored channel → pre-staged press release fires on cue.</a:t>
            </a:r>
          </a:p>
        </p:txBody>
      </p:sp>
      <p:sp>
        <p:nvSpPr>
          <p:cNvPr id="261" name="Rectangle: Rounded Corners 260">
            <a:extLst>
              <a:ext uri="{FF2B5EF4-FFF2-40B4-BE49-F238E27FC236}">
                <a16:creationId xmlns:a16="http://schemas.microsoft.com/office/drawing/2014/main" id="{0F2E5113-3195-4E71-B9C9-2B9827BB7F41}"/>
              </a:ext>
            </a:extLst>
          </p:cNvPr>
          <p:cNvSpPr>
            <a:spLocks noGrp="1"/>
          </p:cNvSpPr>
          <p:nvPr/>
        </p:nvSpPr>
        <p:spPr>
          <a:xfrm>
            <a:off x="533400" y="20974050"/>
            <a:ext cx="6934200" cy="47625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SG"/>
          </a:p>
        </p:txBody>
      </p:sp>
      <p:sp>
        <p:nvSpPr>
          <p:cNvPr id="262" name="Rectangle: Rounded Corners 261">
            <a:extLst>
              <a:ext uri="{FF2B5EF4-FFF2-40B4-BE49-F238E27FC236}">
                <a16:creationId xmlns:a16="http://schemas.microsoft.com/office/drawing/2014/main" id="{993F90FF-51F1-49DE-B2E2-5BFDC5B9EB59}"/>
              </a:ext>
            </a:extLst>
          </p:cNvPr>
          <p:cNvSpPr>
            <a:spLocks noGrp="1"/>
          </p:cNvSpPr>
          <p:nvPr/>
        </p:nvSpPr>
        <p:spPr>
          <a:xfrm>
            <a:off x="533400" y="20974050"/>
            <a:ext cx="6934200" cy="5238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754FC513-51C4-4F5C-88F4-8608C62D77F6}"/>
              </a:ext>
            </a:extLst>
          </p:cNvPr>
          <p:cNvSpPr>
            <a:spLocks noGrp="1"/>
          </p:cNvSpPr>
          <p:nvPr/>
        </p:nvSpPr>
        <p:spPr>
          <a:xfrm>
            <a:off x="533400" y="21497925"/>
            <a:ext cx="6934200" cy="9525"/>
          </a:xfrm>
          <a:prstGeom prst="rect">
            <a:avLst/>
          </a:prstGeom>
          <a:solidFill>
            <a:srgbClr val="DBE3EC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9E99EBBD-7FEB-42F9-85B1-D58225AA7829}"/>
              </a:ext>
            </a:extLst>
          </p:cNvPr>
          <p:cNvSpPr>
            <a:spLocks noGrp="1"/>
          </p:cNvSpPr>
          <p:nvPr/>
        </p:nvSpPr>
        <p:spPr>
          <a:xfrm>
            <a:off x="704850" y="21174075"/>
            <a:ext cx="123825" cy="123825"/>
          </a:xfrm>
          <a:prstGeom prst="ellipse">
            <a:avLst/>
          </a:prstGeom>
          <a:solidFill>
            <a:srgbClr val="0D9488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F4A01003-F05E-44EA-A1A1-5CCFFE7FF2EF}"/>
              </a:ext>
            </a:extLst>
          </p:cNvPr>
          <p:cNvSpPr>
            <a:spLocks noGrp="1"/>
          </p:cNvSpPr>
          <p:nvPr/>
        </p:nvSpPr>
        <p:spPr>
          <a:xfrm>
            <a:off x="933450" y="21116925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1E293B"/>
                </a:solidFill>
                <a:latin typeface="DM Sans"/>
                <a:ea typeface="DM Sans"/>
                <a:cs typeface="DM Sans"/>
              </a:defRPr>
            </a:pPr>
            <a:r>
              <a:rPr sz="1425" b="1" i="0">
                <a:solidFill>
                  <a:srgbClr val="1E293B"/>
                </a:solidFill>
                <a:latin typeface="DM Sans"/>
                <a:ea typeface="DM Sans"/>
                <a:cs typeface="DM Sans"/>
              </a:rPr>
              <a:t>Communication Networks</a:t>
            </a:r>
          </a:p>
        </p:txBody>
      </p:sp>
      <p:sp>
        <p:nvSpPr>
          <p:cNvPr id="266" name="Rectangle: Rounded Corners 265">
            <a:extLst>
              <a:ext uri="{FF2B5EF4-FFF2-40B4-BE49-F238E27FC236}">
                <a16:creationId xmlns:a16="http://schemas.microsoft.com/office/drawing/2014/main" id="{B9C85559-3988-4059-AC92-AFE3EC6F51C0}"/>
              </a:ext>
            </a:extLst>
          </p:cNvPr>
          <p:cNvSpPr>
            <a:spLocks noGrp="1"/>
          </p:cNvSpPr>
          <p:nvPr/>
        </p:nvSpPr>
        <p:spPr>
          <a:xfrm>
            <a:off x="6686550" y="21126450"/>
            <a:ext cx="609600" cy="2286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CB3717B5-01F6-4A8D-81D5-F7CB8D558256}"/>
              </a:ext>
            </a:extLst>
          </p:cNvPr>
          <p:cNvSpPr>
            <a:spLocks noGrp="1"/>
          </p:cNvSpPr>
          <p:nvPr/>
        </p:nvSpPr>
        <p:spPr>
          <a:xfrm>
            <a:off x="6686550" y="21135975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TASK 1</a:t>
            </a:r>
          </a:p>
        </p:txBody>
      </p:sp>
      <p:sp>
        <p:nvSpPr>
          <p:cNvPr id="268" name="Rectangle: Rounded Corners 267">
            <a:extLst>
              <a:ext uri="{FF2B5EF4-FFF2-40B4-BE49-F238E27FC236}">
                <a16:creationId xmlns:a16="http://schemas.microsoft.com/office/drawing/2014/main" id="{A37AF86D-FF5F-4DDE-B9CB-A673FE76AD46}"/>
              </a:ext>
            </a:extLst>
          </p:cNvPr>
          <p:cNvSpPr>
            <a:spLocks noGrp="1"/>
          </p:cNvSpPr>
          <p:nvPr/>
        </p:nvSpPr>
        <p:spPr>
          <a:xfrm>
            <a:off x="723900" y="21659850"/>
            <a:ext cx="6553200" cy="2857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608" name="Picture 60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434340" y="21707475"/>
            <a:ext cx="5132319" cy="2762250"/>
          </a:xfrm>
          <a:prstGeom prst="rect">
            <a:avLst/>
          </a:prstGeom>
        </p:spPr>
      </p:pic>
      <p:sp>
        <p:nvSpPr>
          <p:cNvPr id="270" name="Rectangle 269">
            <a:extLst>
              <a:ext uri="{FF2B5EF4-FFF2-40B4-BE49-F238E27FC236}">
                <a16:creationId xmlns:a16="http://schemas.microsoft.com/office/drawing/2014/main" id="{99535715-0801-4840-840A-F64247C55AAD}"/>
              </a:ext>
            </a:extLst>
          </p:cNvPr>
          <p:cNvSpPr>
            <a:spLocks noGrp="1"/>
          </p:cNvSpPr>
          <p:nvPr/>
        </p:nvSpPr>
        <p:spPr>
          <a:xfrm>
            <a:off x="723900" y="245935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1" i="0">
                <a:solidFill>
                  <a:srgbClr val="64748B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64748B"/>
                </a:solidFill>
                <a:latin typeface="DM Sans"/>
                <a:ea typeface="DM Sans"/>
                <a:cs typeface="DM Sans"/>
              </a:rPr>
              <a:t>CHANNEL</a:t>
            </a:r>
          </a:p>
        </p:txBody>
      </p:sp>
      <p:sp>
        <p:nvSpPr>
          <p:cNvPr id="271" name="Rectangle: Rounded Corners 270">
            <a:extLst>
              <a:ext uri="{FF2B5EF4-FFF2-40B4-BE49-F238E27FC236}">
                <a16:creationId xmlns:a16="http://schemas.microsoft.com/office/drawing/2014/main" id="{6A32690F-2308-4FD8-9D2B-61AA7ADE888C}"/>
              </a:ext>
            </a:extLst>
          </p:cNvPr>
          <p:cNvSpPr>
            <a:spLocks noGrp="1"/>
          </p:cNvSpPr>
          <p:nvPr/>
        </p:nvSpPr>
        <p:spPr>
          <a:xfrm>
            <a:off x="1485900" y="24641175"/>
            <a:ext cx="209550" cy="47625"/>
          </a:xfrm>
          <a:prstGeom prst="roundRect">
            <a:avLst>
              <a:gd name="adj" fmla="val 50000"/>
            </a:avLst>
          </a:prstGeom>
          <a:solidFill>
            <a:srgbClr val="B5D4F4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71C0850D-D591-4F8A-B93B-FC28B7310CCA}"/>
              </a:ext>
            </a:extLst>
          </p:cNvPr>
          <p:cNvSpPr>
            <a:spLocks noGrp="1"/>
          </p:cNvSpPr>
          <p:nvPr/>
        </p:nvSpPr>
        <p:spPr>
          <a:xfrm>
            <a:off x="1771650" y="24584025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322"/>
          </a:bodyPr>
          <a:lstStyle/>
          <a:p>
            <a:pPr algn="l">
              <a:lnSpc>
                <a:spcPct val="112000"/>
              </a:lnSpc>
              <a:buNone/>
              <a:defRPr sz="1088" b="1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88" b="1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Comms Huddle</a:t>
            </a:r>
          </a:p>
        </p:txBody>
      </p:sp>
      <p:sp>
        <p:nvSpPr>
          <p:cNvPr id="273" name="Rectangle: Rounded Corners 272">
            <a:extLst>
              <a:ext uri="{FF2B5EF4-FFF2-40B4-BE49-F238E27FC236}">
                <a16:creationId xmlns:a16="http://schemas.microsoft.com/office/drawing/2014/main" id="{0F46FE97-75D5-42E9-8B0C-1E88D255FD04}"/>
              </a:ext>
            </a:extLst>
          </p:cNvPr>
          <p:cNvSpPr>
            <a:spLocks noGrp="1"/>
          </p:cNvSpPr>
          <p:nvPr/>
        </p:nvSpPr>
        <p:spPr>
          <a:xfrm>
            <a:off x="3295650" y="24641175"/>
            <a:ext cx="209550" cy="47625"/>
          </a:xfrm>
          <a:prstGeom prst="roundRect">
            <a:avLst>
              <a:gd name="adj" fmla="val 50000"/>
            </a:avLst>
          </a:prstGeom>
          <a:solidFill>
            <a:srgbClr val="FFD70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A54F39DE-EE91-4510-94AE-5D72AE004276}"/>
              </a:ext>
            </a:extLst>
          </p:cNvPr>
          <p:cNvSpPr>
            <a:spLocks noGrp="1"/>
          </p:cNvSpPr>
          <p:nvPr/>
        </p:nvSpPr>
        <p:spPr>
          <a:xfrm>
            <a:off x="3581400" y="24584025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322"/>
          </a:bodyPr>
          <a:lstStyle/>
          <a:p>
            <a:pPr algn="l">
              <a:lnSpc>
                <a:spcPct val="112000"/>
              </a:lnSpc>
              <a:buNone/>
              <a:defRPr sz="1088" b="1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88" b="1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1-on-1 Chat</a:t>
            </a:r>
          </a:p>
        </p:txBody>
      </p:sp>
      <p:sp>
        <p:nvSpPr>
          <p:cNvPr id="275" name="Rectangle: Rounded Corners 274">
            <a:extLst>
              <a:ext uri="{FF2B5EF4-FFF2-40B4-BE49-F238E27FC236}">
                <a16:creationId xmlns:a16="http://schemas.microsoft.com/office/drawing/2014/main" id="{307E18B2-0D75-4F8E-8DFB-792E9D0EF258}"/>
              </a:ext>
            </a:extLst>
          </p:cNvPr>
          <p:cNvSpPr>
            <a:spLocks noGrp="1"/>
          </p:cNvSpPr>
          <p:nvPr/>
        </p:nvSpPr>
        <p:spPr>
          <a:xfrm>
            <a:off x="5105400" y="24641175"/>
            <a:ext cx="209550" cy="47625"/>
          </a:xfrm>
          <a:prstGeom prst="roundRect">
            <a:avLst>
              <a:gd name="adj" fmla="val 50000"/>
            </a:avLst>
          </a:prstGeom>
          <a:solidFill>
            <a:srgbClr val="E24B4A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4BAA92F2-D10C-433D-82EE-89F0DD12B779}"/>
              </a:ext>
            </a:extLst>
          </p:cNvPr>
          <p:cNvSpPr>
            <a:spLocks noGrp="1"/>
          </p:cNvSpPr>
          <p:nvPr/>
        </p:nvSpPr>
        <p:spPr>
          <a:xfrm>
            <a:off x="5391150" y="24584025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322"/>
          </a:bodyPr>
          <a:lstStyle/>
          <a:p>
            <a:pPr algn="l">
              <a:lnSpc>
                <a:spcPct val="112000"/>
              </a:lnSpc>
              <a:buNone/>
              <a:defRPr sz="1088" b="1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088" b="1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Side Huddle</a:t>
            </a: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D7FF85D2-7CDF-406F-B0FE-D2355D221144}"/>
              </a:ext>
            </a:extLst>
          </p:cNvPr>
          <p:cNvSpPr>
            <a:spLocks noGrp="1"/>
          </p:cNvSpPr>
          <p:nvPr/>
        </p:nvSpPr>
        <p:spPr>
          <a:xfrm>
            <a:off x="781050" y="24898350"/>
            <a:ext cx="6553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38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238" b="0" i="0" dirty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Pre-crisis balance collapses into a concentrated two-hub topology on crisis day — over a private </a:t>
            </a:r>
            <a:r>
              <a:rPr sz="1238" b="0" i="0" dirty="0" err="1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side_huddle</a:t>
            </a:r>
            <a:r>
              <a:rPr sz="1238" b="0" i="0" dirty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 cluster the Judge never sees.</a:t>
            </a:r>
          </a:p>
        </p:txBody>
      </p:sp>
      <p:sp>
        <p:nvSpPr>
          <p:cNvPr id="278" name="Rectangle: Rounded Corners 277">
            <a:extLst>
              <a:ext uri="{FF2B5EF4-FFF2-40B4-BE49-F238E27FC236}">
                <a16:creationId xmlns:a16="http://schemas.microsoft.com/office/drawing/2014/main" id="{81EA026B-552A-45B4-97B4-914B615C90CB}"/>
              </a:ext>
            </a:extLst>
          </p:cNvPr>
          <p:cNvSpPr>
            <a:spLocks noGrp="1"/>
          </p:cNvSpPr>
          <p:nvPr/>
        </p:nvSpPr>
        <p:spPr>
          <a:xfrm>
            <a:off x="7686675" y="15830550"/>
            <a:ext cx="6934200" cy="4914900"/>
          </a:xfrm>
          <a:prstGeom prst="roundRect">
            <a:avLst>
              <a:gd name="adj" fmla="val 2713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SG"/>
          </a:p>
        </p:txBody>
      </p:sp>
      <p:sp>
        <p:nvSpPr>
          <p:cNvPr id="279" name="Rectangle: Rounded Corners 278">
            <a:extLst>
              <a:ext uri="{FF2B5EF4-FFF2-40B4-BE49-F238E27FC236}">
                <a16:creationId xmlns:a16="http://schemas.microsoft.com/office/drawing/2014/main" id="{B8DCABEF-6A5B-495C-ADEE-1EC721779ED5}"/>
              </a:ext>
            </a:extLst>
          </p:cNvPr>
          <p:cNvSpPr>
            <a:spLocks noGrp="1"/>
          </p:cNvSpPr>
          <p:nvPr/>
        </p:nvSpPr>
        <p:spPr>
          <a:xfrm>
            <a:off x="7686675" y="15830550"/>
            <a:ext cx="6934200" cy="5238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82502A2D-2BC1-42D4-A1AF-53E9D6FF93D0}"/>
              </a:ext>
            </a:extLst>
          </p:cNvPr>
          <p:cNvSpPr>
            <a:spLocks noGrp="1"/>
          </p:cNvSpPr>
          <p:nvPr/>
        </p:nvSpPr>
        <p:spPr>
          <a:xfrm>
            <a:off x="7686675" y="16354425"/>
            <a:ext cx="6934200" cy="9525"/>
          </a:xfrm>
          <a:prstGeom prst="rect">
            <a:avLst/>
          </a:prstGeom>
          <a:solidFill>
            <a:srgbClr val="DBE3EC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1" name="Oval 280">
            <a:extLst>
              <a:ext uri="{FF2B5EF4-FFF2-40B4-BE49-F238E27FC236}">
                <a16:creationId xmlns:a16="http://schemas.microsoft.com/office/drawing/2014/main" id="{C5AE3F39-0EB8-4137-89B3-A2DC965A2905}"/>
              </a:ext>
            </a:extLst>
          </p:cNvPr>
          <p:cNvSpPr>
            <a:spLocks noGrp="1"/>
          </p:cNvSpPr>
          <p:nvPr/>
        </p:nvSpPr>
        <p:spPr>
          <a:xfrm>
            <a:off x="7858125" y="16030575"/>
            <a:ext cx="123825" cy="123825"/>
          </a:xfrm>
          <a:prstGeom prst="ellipse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44133C43-CE61-4043-B5BF-DC277D02381A}"/>
              </a:ext>
            </a:extLst>
          </p:cNvPr>
          <p:cNvSpPr>
            <a:spLocks noGrp="1"/>
          </p:cNvSpPr>
          <p:nvPr/>
        </p:nvSpPr>
        <p:spPr>
          <a:xfrm>
            <a:off x="8086725" y="15973425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1E293B"/>
                </a:solidFill>
                <a:latin typeface="DM Sans"/>
                <a:ea typeface="DM Sans"/>
                <a:cs typeface="DM Sans"/>
              </a:defRPr>
            </a:pPr>
            <a:r>
              <a:rPr sz="1425" b="1" i="0">
                <a:solidFill>
                  <a:srgbClr val="1E293B"/>
                </a:solidFill>
                <a:latin typeface="DM Sans"/>
                <a:ea typeface="DM Sans"/>
                <a:cs typeface="DM Sans"/>
              </a:rPr>
              <a:t>Channel Behaviour</a:t>
            </a:r>
          </a:p>
        </p:txBody>
      </p:sp>
      <p:sp>
        <p:nvSpPr>
          <p:cNvPr id="283" name="Rectangle: Rounded Corners 282">
            <a:extLst>
              <a:ext uri="{FF2B5EF4-FFF2-40B4-BE49-F238E27FC236}">
                <a16:creationId xmlns:a16="http://schemas.microsoft.com/office/drawing/2014/main" id="{E9483881-B43D-4F77-95A5-A5354DF64643}"/>
              </a:ext>
            </a:extLst>
          </p:cNvPr>
          <p:cNvSpPr>
            <a:spLocks noGrp="1"/>
          </p:cNvSpPr>
          <p:nvPr/>
        </p:nvSpPr>
        <p:spPr>
          <a:xfrm>
            <a:off x="13839825" y="15982950"/>
            <a:ext cx="609600" cy="2286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3C566ACF-A145-4614-8ED9-3308E1258D63}"/>
              </a:ext>
            </a:extLst>
          </p:cNvPr>
          <p:cNvSpPr>
            <a:spLocks noGrp="1"/>
          </p:cNvSpPr>
          <p:nvPr/>
        </p:nvSpPr>
        <p:spPr>
          <a:xfrm>
            <a:off x="13839825" y="15992475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TASK 2</a:t>
            </a:r>
          </a:p>
        </p:txBody>
      </p:sp>
      <p:sp>
        <p:nvSpPr>
          <p:cNvPr id="285" name="Rectangle: Rounded Corners 284">
            <a:extLst>
              <a:ext uri="{FF2B5EF4-FFF2-40B4-BE49-F238E27FC236}">
                <a16:creationId xmlns:a16="http://schemas.microsoft.com/office/drawing/2014/main" id="{2F6B0364-C345-4D61-9120-BEAF7A359B53}"/>
              </a:ext>
            </a:extLst>
          </p:cNvPr>
          <p:cNvSpPr>
            <a:spLocks noGrp="1"/>
          </p:cNvSpPr>
          <p:nvPr/>
        </p:nvSpPr>
        <p:spPr>
          <a:xfrm>
            <a:off x="7877175" y="16516350"/>
            <a:ext cx="6553200" cy="2857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625" name="Picture 62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349340" y="16563975"/>
            <a:ext cx="5608869" cy="2762250"/>
          </a:xfrm>
          <a:prstGeom prst="rect">
            <a:avLst/>
          </a:prstGeom>
        </p:spPr>
      </p:pic>
      <p:sp>
        <p:nvSpPr>
          <p:cNvPr id="287" name="Rectangle 286">
            <a:extLst>
              <a:ext uri="{FF2B5EF4-FFF2-40B4-BE49-F238E27FC236}">
                <a16:creationId xmlns:a16="http://schemas.microsoft.com/office/drawing/2014/main" id="{F8B54FF9-0C64-4851-AC21-08F3307ABB77}"/>
              </a:ext>
            </a:extLst>
          </p:cNvPr>
          <p:cNvSpPr>
            <a:spLocks noGrp="1"/>
          </p:cNvSpPr>
          <p:nvPr/>
        </p:nvSpPr>
        <p:spPr>
          <a:xfrm>
            <a:off x="7877175" y="19331940"/>
            <a:ext cx="6553200" cy="998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38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238" b="0" i="0" dirty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Private-channel share rises monotonically </a:t>
            </a:r>
            <a:r>
              <a:rPr sz="1238" b="0" i="0" dirty="0" err="1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Normal→Escalation→Crisis</a:t>
            </a:r>
            <a:r>
              <a:rPr sz="1238" b="0" i="0" dirty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, from when </a:t>
            </a:r>
            <a:r>
              <a:rPr sz="1238" b="0" i="0" dirty="0" err="1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side_huddle</a:t>
            </a:r>
            <a:r>
              <a:rPr sz="1238" b="0" i="0" dirty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 appeared (22 May). A reactive system would step-change only on crisis day → deliberate migration weeks earlier.</a:t>
            </a:r>
          </a:p>
        </p:txBody>
      </p:sp>
      <p:sp>
        <p:nvSpPr>
          <p:cNvPr id="288" name="Rectangle: Rounded Corners 287">
            <a:extLst>
              <a:ext uri="{FF2B5EF4-FFF2-40B4-BE49-F238E27FC236}">
                <a16:creationId xmlns:a16="http://schemas.microsoft.com/office/drawing/2014/main" id="{EE9348CC-10E4-450C-B861-D280F8D694AA}"/>
              </a:ext>
            </a:extLst>
          </p:cNvPr>
          <p:cNvSpPr>
            <a:spLocks noGrp="1"/>
          </p:cNvSpPr>
          <p:nvPr/>
        </p:nvSpPr>
        <p:spPr>
          <a:xfrm>
            <a:off x="7686675" y="20974050"/>
            <a:ext cx="6934200" cy="47625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SG"/>
          </a:p>
        </p:txBody>
      </p:sp>
      <p:sp>
        <p:nvSpPr>
          <p:cNvPr id="289" name="Rectangle: Rounded Corners 288">
            <a:extLst>
              <a:ext uri="{FF2B5EF4-FFF2-40B4-BE49-F238E27FC236}">
                <a16:creationId xmlns:a16="http://schemas.microsoft.com/office/drawing/2014/main" id="{B55F63B6-F3B8-4312-9BF4-552D94C6524C}"/>
              </a:ext>
            </a:extLst>
          </p:cNvPr>
          <p:cNvSpPr>
            <a:spLocks noGrp="1"/>
          </p:cNvSpPr>
          <p:nvPr/>
        </p:nvSpPr>
        <p:spPr>
          <a:xfrm>
            <a:off x="7686675" y="20974050"/>
            <a:ext cx="6934200" cy="5238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E6875CEF-997F-4F22-B84D-13FFE3086F91}"/>
              </a:ext>
            </a:extLst>
          </p:cNvPr>
          <p:cNvSpPr>
            <a:spLocks noGrp="1"/>
          </p:cNvSpPr>
          <p:nvPr/>
        </p:nvSpPr>
        <p:spPr>
          <a:xfrm>
            <a:off x="7686675" y="21497925"/>
            <a:ext cx="6934200" cy="9525"/>
          </a:xfrm>
          <a:prstGeom prst="rect">
            <a:avLst/>
          </a:prstGeom>
          <a:solidFill>
            <a:srgbClr val="DBE3EC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1" name="Oval 290">
            <a:extLst>
              <a:ext uri="{FF2B5EF4-FFF2-40B4-BE49-F238E27FC236}">
                <a16:creationId xmlns:a16="http://schemas.microsoft.com/office/drawing/2014/main" id="{A2E77F89-9C53-4B71-80B2-7D12A3CF216E}"/>
              </a:ext>
            </a:extLst>
          </p:cNvPr>
          <p:cNvSpPr>
            <a:spLocks noGrp="1"/>
          </p:cNvSpPr>
          <p:nvPr/>
        </p:nvSpPr>
        <p:spPr>
          <a:xfrm>
            <a:off x="7858125" y="21174075"/>
            <a:ext cx="123825" cy="123825"/>
          </a:xfrm>
          <a:prstGeom prst="ellipse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A3BFCEAB-F788-42A9-8E6A-C0367FF9AE18}"/>
              </a:ext>
            </a:extLst>
          </p:cNvPr>
          <p:cNvSpPr>
            <a:spLocks noGrp="1"/>
          </p:cNvSpPr>
          <p:nvPr/>
        </p:nvSpPr>
        <p:spPr>
          <a:xfrm>
            <a:off x="8086725" y="21116925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1E293B"/>
                </a:solidFill>
                <a:latin typeface="DM Sans"/>
                <a:ea typeface="DM Sans"/>
                <a:cs typeface="DM Sans"/>
              </a:defRPr>
            </a:pPr>
            <a:r>
              <a:rPr sz="1425" b="1" i="0">
                <a:solidFill>
                  <a:srgbClr val="1E293B"/>
                </a:solidFill>
                <a:latin typeface="DM Sans"/>
                <a:ea typeface="DM Sans"/>
                <a:cs typeface="DM Sans"/>
              </a:rPr>
              <a:t>Internal States — decisive</a:t>
            </a:r>
          </a:p>
        </p:txBody>
      </p:sp>
      <p:sp>
        <p:nvSpPr>
          <p:cNvPr id="293" name="Rectangle: Rounded Corners 292">
            <a:extLst>
              <a:ext uri="{FF2B5EF4-FFF2-40B4-BE49-F238E27FC236}">
                <a16:creationId xmlns:a16="http://schemas.microsoft.com/office/drawing/2014/main" id="{F80B16FB-BDB0-4487-8782-0D76B1A11AE7}"/>
              </a:ext>
            </a:extLst>
          </p:cNvPr>
          <p:cNvSpPr>
            <a:spLocks noGrp="1"/>
          </p:cNvSpPr>
          <p:nvPr/>
        </p:nvSpPr>
        <p:spPr>
          <a:xfrm>
            <a:off x="13839825" y="21126450"/>
            <a:ext cx="609600" cy="2286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6B19112-F206-4C0D-B43F-531C57D3390F}"/>
              </a:ext>
            </a:extLst>
          </p:cNvPr>
          <p:cNvSpPr>
            <a:spLocks noGrp="1"/>
          </p:cNvSpPr>
          <p:nvPr/>
        </p:nvSpPr>
        <p:spPr>
          <a:xfrm>
            <a:off x="13839825" y="21135975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TASK 2</a:t>
            </a:r>
          </a:p>
        </p:txBody>
      </p:sp>
      <p:sp>
        <p:nvSpPr>
          <p:cNvPr id="295" name="Rectangle: Rounded Corners 294">
            <a:extLst>
              <a:ext uri="{FF2B5EF4-FFF2-40B4-BE49-F238E27FC236}">
                <a16:creationId xmlns:a16="http://schemas.microsoft.com/office/drawing/2014/main" id="{62CA41B7-EEB0-47C1-80A3-9BFE940FAFD4}"/>
              </a:ext>
            </a:extLst>
          </p:cNvPr>
          <p:cNvSpPr>
            <a:spLocks noGrp="1"/>
          </p:cNvSpPr>
          <p:nvPr/>
        </p:nvSpPr>
        <p:spPr>
          <a:xfrm>
            <a:off x="7877175" y="21659850"/>
            <a:ext cx="6553200" cy="2857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635" name="Picture 63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555665" y="21707475"/>
            <a:ext cx="5196219" cy="2762250"/>
          </a:xfrm>
          <a:prstGeom prst="rect">
            <a:avLst/>
          </a:prstGeom>
        </p:spPr>
      </p:pic>
      <p:sp>
        <p:nvSpPr>
          <p:cNvPr id="297" name="Rectangle 296">
            <a:extLst>
              <a:ext uri="{FF2B5EF4-FFF2-40B4-BE49-F238E27FC236}">
                <a16:creationId xmlns:a16="http://schemas.microsoft.com/office/drawing/2014/main" id="{45AF16E0-AD0F-4A8D-A01B-319D1EB824E0}"/>
              </a:ext>
            </a:extLst>
          </p:cNvPr>
          <p:cNvSpPr>
            <a:spLocks noGrp="1"/>
          </p:cNvSpPr>
          <p:nvPr/>
        </p:nvSpPr>
        <p:spPr>
          <a:xfrm>
            <a:off x="7862887" y="24570690"/>
            <a:ext cx="65532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38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238" b="0" i="0" dirty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Temporal inversion. Legal-Agent's 4:01 PM reasoning already stages the 4:30 PM release; the 5:01 PM note then blames </a:t>
            </a:r>
            <a:r>
              <a:rPr sz="1238" b="0" i="0" dirty="0" err="1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SaltWind's</a:t>
            </a:r>
            <a:r>
              <a:rPr sz="1238" b="0" i="0" dirty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 5 PM story. The plan precedes its trigger — </a:t>
            </a:r>
            <a:r>
              <a:rPr sz="1238" b="0" i="0" dirty="0" err="1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rationalisation</a:t>
            </a:r>
            <a:r>
              <a:rPr sz="1238" b="0" i="0" dirty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 written after the decision.</a:t>
            </a:r>
          </a:p>
        </p:txBody>
      </p:sp>
      <p:sp>
        <p:nvSpPr>
          <p:cNvPr id="298" name="Rectangle: Rounded Corners 297">
            <a:extLst>
              <a:ext uri="{FF2B5EF4-FFF2-40B4-BE49-F238E27FC236}">
                <a16:creationId xmlns:a16="http://schemas.microsoft.com/office/drawing/2014/main" id="{75EBE3D4-0FE1-4C37-BBBB-43B9E537B3ED}"/>
              </a:ext>
            </a:extLst>
          </p:cNvPr>
          <p:cNvSpPr>
            <a:spLocks noGrp="1"/>
          </p:cNvSpPr>
          <p:nvPr/>
        </p:nvSpPr>
        <p:spPr>
          <a:xfrm>
            <a:off x="14839950" y="15830550"/>
            <a:ext cx="6934200" cy="4914900"/>
          </a:xfrm>
          <a:prstGeom prst="roundRect">
            <a:avLst>
              <a:gd name="adj" fmla="val 2713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SG"/>
          </a:p>
        </p:txBody>
      </p:sp>
      <p:sp>
        <p:nvSpPr>
          <p:cNvPr id="299" name="Rectangle: Rounded Corners 298">
            <a:extLst>
              <a:ext uri="{FF2B5EF4-FFF2-40B4-BE49-F238E27FC236}">
                <a16:creationId xmlns:a16="http://schemas.microsoft.com/office/drawing/2014/main" id="{D6259798-F04C-458F-9714-B6A21847C78B}"/>
              </a:ext>
            </a:extLst>
          </p:cNvPr>
          <p:cNvSpPr>
            <a:spLocks noGrp="1"/>
          </p:cNvSpPr>
          <p:nvPr/>
        </p:nvSpPr>
        <p:spPr>
          <a:xfrm>
            <a:off x="14839950" y="15830550"/>
            <a:ext cx="6934200" cy="5238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0AA29673-FC95-45D5-B08D-650B4C5A623A}"/>
              </a:ext>
            </a:extLst>
          </p:cNvPr>
          <p:cNvSpPr>
            <a:spLocks noGrp="1"/>
          </p:cNvSpPr>
          <p:nvPr/>
        </p:nvSpPr>
        <p:spPr>
          <a:xfrm>
            <a:off x="14839950" y="16354425"/>
            <a:ext cx="6934200" cy="9525"/>
          </a:xfrm>
          <a:prstGeom prst="rect">
            <a:avLst/>
          </a:prstGeom>
          <a:solidFill>
            <a:srgbClr val="DBE3EC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858565F0-EC74-4659-B189-6966CB9BD216}"/>
              </a:ext>
            </a:extLst>
          </p:cNvPr>
          <p:cNvSpPr>
            <a:spLocks noGrp="1"/>
          </p:cNvSpPr>
          <p:nvPr/>
        </p:nvSpPr>
        <p:spPr>
          <a:xfrm>
            <a:off x="15011400" y="16030575"/>
            <a:ext cx="123825" cy="123825"/>
          </a:xfrm>
          <a:prstGeom prst="ellipse">
            <a:avLst/>
          </a:prstGeom>
          <a:solidFill>
            <a:srgbClr val="9333EA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5112766C-2B93-4912-B9C7-AC454E37668B}"/>
              </a:ext>
            </a:extLst>
          </p:cNvPr>
          <p:cNvSpPr>
            <a:spLocks noGrp="1"/>
          </p:cNvSpPr>
          <p:nvPr/>
        </p:nvSpPr>
        <p:spPr>
          <a:xfrm>
            <a:off x="15240000" y="15973425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1E293B"/>
                </a:solidFill>
                <a:latin typeface="DM Sans"/>
                <a:ea typeface="DM Sans"/>
                <a:cs typeface="DM Sans"/>
              </a:defRPr>
            </a:pPr>
            <a:r>
              <a:rPr sz="1425" b="1" i="0">
                <a:solidFill>
                  <a:srgbClr val="1E293B"/>
                </a:solidFill>
                <a:latin typeface="DM Sans"/>
                <a:ea typeface="DM Sans"/>
                <a:cs typeface="DM Sans"/>
              </a:rPr>
              <a:t>Control Gaps — why no action</a:t>
            </a:r>
          </a:p>
        </p:txBody>
      </p:sp>
      <p:sp>
        <p:nvSpPr>
          <p:cNvPr id="303" name="Rectangle: Rounded Corners 302">
            <a:extLst>
              <a:ext uri="{FF2B5EF4-FFF2-40B4-BE49-F238E27FC236}">
                <a16:creationId xmlns:a16="http://schemas.microsoft.com/office/drawing/2014/main" id="{306A4579-2EC2-4063-9802-F2A54CF7F9B2}"/>
              </a:ext>
            </a:extLst>
          </p:cNvPr>
          <p:cNvSpPr>
            <a:spLocks noGrp="1"/>
          </p:cNvSpPr>
          <p:nvPr/>
        </p:nvSpPr>
        <p:spPr>
          <a:xfrm>
            <a:off x="20993100" y="15982950"/>
            <a:ext cx="609600" cy="228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A8C79088-E2D8-425F-8370-12FA0A5143EF}"/>
              </a:ext>
            </a:extLst>
          </p:cNvPr>
          <p:cNvSpPr>
            <a:spLocks noGrp="1"/>
          </p:cNvSpPr>
          <p:nvPr/>
        </p:nvSpPr>
        <p:spPr>
          <a:xfrm>
            <a:off x="20993100" y="15992475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TASK 3</a:t>
            </a:r>
          </a:p>
        </p:txBody>
      </p:sp>
      <p:sp>
        <p:nvSpPr>
          <p:cNvPr id="305" name="Rectangle: Rounded Corners 304">
            <a:extLst>
              <a:ext uri="{FF2B5EF4-FFF2-40B4-BE49-F238E27FC236}">
                <a16:creationId xmlns:a16="http://schemas.microsoft.com/office/drawing/2014/main" id="{035A0508-FDF3-4B57-B7DA-812CB08DE3D8}"/>
              </a:ext>
            </a:extLst>
          </p:cNvPr>
          <p:cNvSpPr>
            <a:spLocks noGrp="1"/>
          </p:cNvSpPr>
          <p:nvPr/>
        </p:nvSpPr>
        <p:spPr>
          <a:xfrm>
            <a:off x="15030450" y="16516350"/>
            <a:ext cx="6553200" cy="2857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645" name="Picture 64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5609718" y="16563975"/>
            <a:ext cx="5394665" cy="2762250"/>
          </a:xfrm>
          <a:prstGeom prst="rect">
            <a:avLst/>
          </a:prstGeom>
        </p:spPr>
      </p:pic>
      <p:sp>
        <p:nvSpPr>
          <p:cNvPr id="307" name="Rectangle 306">
            <a:extLst>
              <a:ext uri="{FF2B5EF4-FFF2-40B4-BE49-F238E27FC236}">
                <a16:creationId xmlns:a16="http://schemas.microsoft.com/office/drawing/2014/main" id="{02EEB260-22D4-4AC0-849E-1C5DA576A3F0}"/>
              </a:ext>
            </a:extLst>
          </p:cNvPr>
          <p:cNvSpPr>
            <a:spLocks noGrp="1"/>
          </p:cNvSpPr>
          <p:nvPr/>
        </p:nvSpPr>
        <p:spPr>
          <a:xfrm>
            <a:off x="15030450" y="19423380"/>
            <a:ext cx="6553200" cy="937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38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238" b="0" i="0" dirty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Sensitive merger talk lived privately from 23 May with ~zero public leakage. The Judge arrived late (30 May), never entered </a:t>
            </a:r>
            <a:r>
              <a:rPr sz="1238" b="0" i="0" dirty="0" err="1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side_huddle</a:t>
            </a:r>
            <a:r>
              <a:rPr sz="1238" b="0" i="0" dirty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, never read public posts or internal state — every signal landed in its blind spot.</a:t>
            </a:r>
          </a:p>
        </p:txBody>
      </p:sp>
      <p:sp>
        <p:nvSpPr>
          <p:cNvPr id="308" name="Rectangle: Rounded Corners 307">
            <a:extLst>
              <a:ext uri="{FF2B5EF4-FFF2-40B4-BE49-F238E27FC236}">
                <a16:creationId xmlns:a16="http://schemas.microsoft.com/office/drawing/2014/main" id="{9497AFA6-F5CF-4D91-BAC2-2CB7628B6721}"/>
              </a:ext>
            </a:extLst>
          </p:cNvPr>
          <p:cNvSpPr>
            <a:spLocks noGrp="1"/>
          </p:cNvSpPr>
          <p:nvPr/>
        </p:nvSpPr>
        <p:spPr>
          <a:xfrm>
            <a:off x="14839950" y="20974050"/>
            <a:ext cx="6934200" cy="47625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SG"/>
          </a:p>
        </p:txBody>
      </p:sp>
      <p:sp>
        <p:nvSpPr>
          <p:cNvPr id="309" name="Rectangle: Rounded Corners 308">
            <a:extLst>
              <a:ext uri="{FF2B5EF4-FFF2-40B4-BE49-F238E27FC236}">
                <a16:creationId xmlns:a16="http://schemas.microsoft.com/office/drawing/2014/main" id="{4C20047E-27A7-425E-8665-F793D82DC72A}"/>
              </a:ext>
            </a:extLst>
          </p:cNvPr>
          <p:cNvSpPr>
            <a:spLocks noGrp="1"/>
          </p:cNvSpPr>
          <p:nvPr/>
        </p:nvSpPr>
        <p:spPr>
          <a:xfrm>
            <a:off x="14839950" y="20974050"/>
            <a:ext cx="6934200" cy="5238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BCFED75-9F83-4281-8EDB-5F683FAA7E71}"/>
              </a:ext>
            </a:extLst>
          </p:cNvPr>
          <p:cNvSpPr>
            <a:spLocks noGrp="1"/>
          </p:cNvSpPr>
          <p:nvPr/>
        </p:nvSpPr>
        <p:spPr>
          <a:xfrm>
            <a:off x="14839950" y="21497925"/>
            <a:ext cx="6934200" cy="9525"/>
          </a:xfrm>
          <a:prstGeom prst="rect">
            <a:avLst/>
          </a:prstGeom>
          <a:solidFill>
            <a:srgbClr val="DBE3EC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F5556231-8E8E-4368-9500-AFC4AE182C85}"/>
              </a:ext>
            </a:extLst>
          </p:cNvPr>
          <p:cNvSpPr>
            <a:spLocks noGrp="1"/>
          </p:cNvSpPr>
          <p:nvPr/>
        </p:nvSpPr>
        <p:spPr>
          <a:xfrm>
            <a:off x="15011400" y="21174075"/>
            <a:ext cx="123825" cy="123825"/>
          </a:xfrm>
          <a:prstGeom prst="ellipse">
            <a:avLst/>
          </a:prstGeom>
          <a:solidFill>
            <a:srgbClr val="9333EA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6A8609B7-C56D-4EAB-8B38-315780C54C1C}"/>
              </a:ext>
            </a:extLst>
          </p:cNvPr>
          <p:cNvSpPr>
            <a:spLocks noGrp="1"/>
          </p:cNvSpPr>
          <p:nvPr/>
        </p:nvSpPr>
        <p:spPr>
          <a:xfrm>
            <a:off x="15240000" y="21116925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1E293B"/>
                </a:solidFill>
                <a:latin typeface="DM Sans"/>
                <a:ea typeface="DM Sans"/>
                <a:cs typeface="DM Sans"/>
              </a:defRPr>
            </a:pPr>
            <a:r>
              <a:rPr sz="1425" b="1" i="0">
                <a:solidFill>
                  <a:srgbClr val="1E293B"/>
                </a:solidFill>
                <a:latin typeface="DM Sans"/>
                <a:ea typeface="DM Sans"/>
                <a:cs typeface="DM Sans"/>
              </a:rPr>
              <a:t>Expected vs Actual Channel Mix</a:t>
            </a:r>
          </a:p>
        </p:txBody>
      </p:sp>
      <p:sp>
        <p:nvSpPr>
          <p:cNvPr id="313" name="Rectangle: Rounded Corners 312">
            <a:extLst>
              <a:ext uri="{FF2B5EF4-FFF2-40B4-BE49-F238E27FC236}">
                <a16:creationId xmlns:a16="http://schemas.microsoft.com/office/drawing/2014/main" id="{688F7F44-B2D6-4DAA-ADC9-BC77D6BB3A4A}"/>
              </a:ext>
            </a:extLst>
          </p:cNvPr>
          <p:cNvSpPr>
            <a:spLocks noGrp="1"/>
          </p:cNvSpPr>
          <p:nvPr/>
        </p:nvSpPr>
        <p:spPr>
          <a:xfrm>
            <a:off x="20993100" y="21126450"/>
            <a:ext cx="609600" cy="228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8CC6F472-CFF7-4C49-8D1E-DFD7D034EF97}"/>
              </a:ext>
            </a:extLst>
          </p:cNvPr>
          <p:cNvSpPr>
            <a:spLocks noGrp="1"/>
          </p:cNvSpPr>
          <p:nvPr/>
        </p:nvSpPr>
        <p:spPr>
          <a:xfrm>
            <a:off x="20993100" y="21135975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TASK 3</a:t>
            </a:r>
          </a:p>
        </p:txBody>
      </p:sp>
      <p:sp>
        <p:nvSpPr>
          <p:cNvPr id="315" name="Rectangle: Rounded Corners 314">
            <a:extLst>
              <a:ext uri="{FF2B5EF4-FFF2-40B4-BE49-F238E27FC236}">
                <a16:creationId xmlns:a16="http://schemas.microsoft.com/office/drawing/2014/main" id="{691F50B7-80F4-42C8-A292-7E7600181368}"/>
              </a:ext>
            </a:extLst>
          </p:cNvPr>
          <p:cNvSpPr>
            <a:spLocks noGrp="1"/>
          </p:cNvSpPr>
          <p:nvPr/>
        </p:nvSpPr>
        <p:spPr>
          <a:xfrm>
            <a:off x="15030450" y="21659850"/>
            <a:ext cx="6553200" cy="2857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655" name="Picture 654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5260693" y="21707475"/>
            <a:ext cx="6092713" cy="2762250"/>
          </a:xfrm>
          <a:prstGeom prst="rect">
            <a:avLst/>
          </a:prstGeom>
        </p:spPr>
      </p:pic>
      <p:sp>
        <p:nvSpPr>
          <p:cNvPr id="317" name="Rectangle 316">
            <a:extLst>
              <a:ext uri="{FF2B5EF4-FFF2-40B4-BE49-F238E27FC236}">
                <a16:creationId xmlns:a16="http://schemas.microsoft.com/office/drawing/2014/main" id="{C4C25B0E-7426-4915-9C9B-5F71430A06AA}"/>
              </a:ext>
            </a:extLst>
          </p:cNvPr>
          <p:cNvSpPr>
            <a:spLocks noGrp="1"/>
          </p:cNvSpPr>
          <p:nvPr/>
        </p:nvSpPr>
        <p:spPr>
          <a:xfrm>
            <a:off x="15060930" y="24555450"/>
            <a:ext cx="655320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38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238" b="0" i="0" dirty="0" err="1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Behavioural</a:t>
            </a:r>
            <a:r>
              <a:rPr sz="1238" b="0" i="0" dirty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 drift (JSD). Legal-Agent — the compliance authority — shifts from internal-only channels to </a:t>
            </a:r>
            <a:r>
              <a:rPr sz="1238" b="0" i="0" dirty="0" err="1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anonymous_post</a:t>
            </a:r>
            <a:r>
              <a:rPr sz="1238" b="0" i="0" dirty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 (12 merger leaks). Divergence from the Normal baseline climbs steadily </a:t>
            </a:r>
            <a:r>
              <a:rPr sz="1238" b="0" i="0" dirty="0" err="1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Normal→Escalation→Crisis</a:t>
            </a:r>
            <a:r>
              <a:rPr sz="1238" b="0" i="0" dirty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: the breach was foreshadowed for two weeks.</a:t>
            </a:r>
          </a:p>
        </p:txBody>
      </p:sp>
      <p:sp>
        <p:nvSpPr>
          <p:cNvPr id="318" name="Rectangle: Rounded Corners 317">
            <a:extLst>
              <a:ext uri="{FF2B5EF4-FFF2-40B4-BE49-F238E27FC236}">
                <a16:creationId xmlns:a16="http://schemas.microsoft.com/office/drawing/2014/main" id="{99588961-59E7-4B2C-9737-3FE9E46F3142}"/>
              </a:ext>
            </a:extLst>
          </p:cNvPr>
          <p:cNvSpPr>
            <a:spLocks noGrp="1"/>
          </p:cNvSpPr>
          <p:nvPr/>
        </p:nvSpPr>
        <p:spPr>
          <a:xfrm>
            <a:off x="533400" y="25908000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EF704EF9-B282-4F78-8D5E-AE6D217E3338}"/>
              </a:ext>
            </a:extLst>
          </p:cNvPr>
          <p:cNvSpPr>
            <a:spLocks noGrp="1"/>
          </p:cNvSpPr>
          <p:nvPr/>
        </p:nvSpPr>
        <p:spPr>
          <a:xfrm>
            <a:off x="533400" y="25917525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65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5</a:t>
            </a: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B0078593-807B-448E-9A8C-DD584BA62DCF}"/>
              </a:ext>
            </a:extLst>
          </p:cNvPr>
          <p:cNvSpPr>
            <a:spLocks noGrp="1"/>
          </p:cNvSpPr>
          <p:nvPr/>
        </p:nvSpPr>
        <p:spPr>
          <a:xfrm>
            <a:off x="1066800" y="2593657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1E293B"/>
                </a:solidFill>
                <a:latin typeface="DM Sans"/>
                <a:ea typeface="DM Sans"/>
                <a:cs typeface="DM Sans"/>
              </a:defRPr>
            </a:pPr>
            <a:r>
              <a:rPr sz="2250" b="1" i="0">
                <a:solidFill>
                  <a:srgbClr val="1E293B"/>
                </a:solidFill>
                <a:latin typeface="DM Sans"/>
                <a:ea typeface="DM Sans"/>
                <a:cs typeface="DM Sans"/>
              </a:rPr>
              <a:t>Future Work</a:t>
            </a:r>
          </a:p>
        </p:txBody>
      </p:sp>
      <p:sp>
        <p:nvSpPr>
          <p:cNvPr id="321" name="Rectangle: Rounded Corners 320">
            <a:extLst>
              <a:ext uri="{FF2B5EF4-FFF2-40B4-BE49-F238E27FC236}">
                <a16:creationId xmlns:a16="http://schemas.microsoft.com/office/drawing/2014/main" id="{A501AB2C-CC27-4673-AAC3-15AB5B394AF7}"/>
              </a:ext>
            </a:extLst>
          </p:cNvPr>
          <p:cNvSpPr>
            <a:spLocks noGrp="1"/>
          </p:cNvSpPr>
          <p:nvPr/>
        </p:nvSpPr>
        <p:spPr>
          <a:xfrm>
            <a:off x="533400" y="26460450"/>
            <a:ext cx="11668125" cy="2419350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SG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A973044C-DC8A-4F06-BE9B-910B061C080D}"/>
              </a:ext>
            </a:extLst>
          </p:cNvPr>
          <p:cNvSpPr>
            <a:spLocks noGrp="1"/>
          </p:cNvSpPr>
          <p:nvPr/>
        </p:nvSpPr>
        <p:spPr>
          <a:xfrm>
            <a:off x="533400" y="26460450"/>
            <a:ext cx="11668125" cy="571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7C0EEA03-4CFB-4255-9AC8-117C7530C4F4}"/>
              </a:ext>
            </a:extLst>
          </p:cNvPr>
          <p:cNvSpPr>
            <a:spLocks noGrp="1"/>
          </p:cNvSpPr>
          <p:nvPr/>
        </p:nvSpPr>
        <p:spPr>
          <a:xfrm>
            <a:off x="838200" y="26870025"/>
            <a:ext cx="104775" cy="104775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3B968936-6EE7-48AE-95D7-37834D9F6EF9}"/>
              </a:ext>
            </a:extLst>
          </p:cNvPr>
          <p:cNvSpPr>
            <a:spLocks noGrp="1"/>
          </p:cNvSpPr>
          <p:nvPr/>
        </p:nvSpPr>
        <p:spPr>
          <a:xfrm>
            <a:off x="1104900" y="26774775"/>
            <a:ext cx="10687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388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388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Real-time leading indicators: stream channel-routing &amp; sensitivity scores live with alert thresholds — catch divergence as it forms, not in hindsight.</a:t>
            </a:r>
          </a:p>
        </p:txBody>
      </p:sp>
      <p:sp>
        <p:nvSpPr>
          <p:cNvPr id="325" name="Oval 324">
            <a:extLst>
              <a:ext uri="{FF2B5EF4-FFF2-40B4-BE49-F238E27FC236}">
                <a16:creationId xmlns:a16="http://schemas.microsoft.com/office/drawing/2014/main" id="{EE41CB72-B817-4272-A718-C1BEB527DFF1}"/>
              </a:ext>
            </a:extLst>
          </p:cNvPr>
          <p:cNvSpPr>
            <a:spLocks noGrp="1"/>
          </p:cNvSpPr>
          <p:nvPr/>
        </p:nvSpPr>
        <p:spPr>
          <a:xfrm>
            <a:off x="838200" y="27355800"/>
            <a:ext cx="104775" cy="104775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AE955B0E-01E5-4627-A9A4-A78FFBAACEF2}"/>
              </a:ext>
            </a:extLst>
          </p:cNvPr>
          <p:cNvSpPr>
            <a:spLocks noGrp="1"/>
          </p:cNvSpPr>
          <p:nvPr/>
        </p:nvSpPr>
        <p:spPr>
          <a:xfrm>
            <a:off x="1104900" y="27260550"/>
            <a:ext cx="10687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388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388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Close the control gaps: extend Judge-Agent to side_huddle + public posts, grant hard-block (not advisory) authority, add an escalation protocol.</a:t>
            </a:r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59A45841-20A5-4D3F-8240-45A64ED9BE5E}"/>
              </a:ext>
            </a:extLst>
          </p:cNvPr>
          <p:cNvSpPr>
            <a:spLocks noGrp="1"/>
          </p:cNvSpPr>
          <p:nvPr/>
        </p:nvSpPr>
        <p:spPr>
          <a:xfrm>
            <a:off x="838200" y="27841575"/>
            <a:ext cx="104775" cy="104775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77BF67DF-0061-4C88-ACCA-2093485783D2}"/>
              </a:ext>
            </a:extLst>
          </p:cNvPr>
          <p:cNvSpPr>
            <a:spLocks noGrp="1"/>
          </p:cNvSpPr>
          <p:nvPr/>
        </p:nvSpPr>
        <p:spPr>
          <a:xfrm>
            <a:off x="1104900" y="27746325"/>
            <a:ext cx="10687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388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388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NLP at scale: replace regex rationalisation rules with embedding / LLM-based intent &amp; stance classification and topic modelling of internal state.</a:t>
            </a:r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5F1C3FCB-0739-463F-ADC3-F663E2ED5D9B}"/>
              </a:ext>
            </a:extLst>
          </p:cNvPr>
          <p:cNvSpPr>
            <a:spLocks noGrp="1"/>
          </p:cNvSpPr>
          <p:nvPr/>
        </p:nvSpPr>
        <p:spPr>
          <a:xfrm>
            <a:off x="838200" y="28327350"/>
            <a:ext cx="104775" cy="104775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932A6846-54C6-4E06-B648-6713CA41FA75}"/>
              </a:ext>
            </a:extLst>
          </p:cNvPr>
          <p:cNvSpPr>
            <a:spLocks noGrp="1"/>
          </p:cNvSpPr>
          <p:nvPr/>
        </p:nvSpPr>
        <p:spPr>
          <a:xfrm>
            <a:off x="1104900" y="28232100"/>
            <a:ext cx="10687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388" b="0" i="0">
                <a:solidFill>
                  <a:srgbClr val="475569"/>
                </a:solidFill>
                <a:latin typeface="DM Sans"/>
                <a:ea typeface="DM Sans"/>
                <a:cs typeface="DM Sans"/>
              </a:defRPr>
            </a:pPr>
            <a:r>
              <a:rPr sz="1388" b="0" i="0">
                <a:solidFill>
                  <a:srgbClr val="475569"/>
                </a:solidFill>
                <a:latin typeface="DM Sans"/>
                <a:ea typeface="DM Sans"/>
                <a:cs typeface="DM Sans"/>
              </a:rPr>
              <a:t>Generalise &amp; quantify: package as a reusable multi-agent audit toolkit; add formal competing-hypotheses (ACH) scoring with sensitivity analysis.</a:t>
            </a:r>
          </a:p>
        </p:txBody>
      </p:sp>
      <p:sp>
        <p:nvSpPr>
          <p:cNvPr id="331" name="Rectangle: Rounded Corners 330">
            <a:extLst>
              <a:ext uri="{FF2B5EF4-FFF2-40B4-BE49-F238E27FC236}">
                <a16:creationId xmlns:a16="http://schemas.microsoft.com/office/drawing/2014/main" id="{0DD2D7EC-A22E-421C-9056-18FFB99EF116}"/>
              </a:ext>
            </a:extLst>
          </p:cNvPr>
          <p:cNvSpPr>
            <a:spLocks noGrp="1"/>
          </p:cNvSpPr>
          <p:nvPr/>
        </p:nvSpPr>
        <p:spPr>
          <a:xfrm>
            <a:off x="12439650" y="25908000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0D1B2A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59F2E4A4-9623-4500-B70A-4456AC2C3C9E}"/>
              </a:ext>
            </a:extLst>
          </p:cNvPr>
          <p:cNvSpPr>
            <a:spLocks noGrp="1"/>
          </p:cNvSpPr>
          <p:nvPr/>
        </p:nvSpPr>
        <p:spPr>
          <a:xfrm>
            <a:off x="12439650" y="25917525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8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★</a:t>
            </a: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1C54BD9B-12DC-4931-A377-B84AAA3EABDC}"/>
              </a:ext>
            </a:extLst>
          </p:cNvPr>
          <p:cNvSpPr>
            <a:spLocks noGrp="1"/>
          </p:cNvSpPr>
          <p:nvPr/>
        </p:nvSpPr>
        <p:spPr>
          <a:xfrm>
            <a:off x="12973050" y="2593657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1E293B"/>
                </a:solidFill>
                <a:latin typeface="DM Sans"/>
                <a:ea typeface="DM Sans"/>
                <a:cs typeface="DM Sans"/>
              </a:defRPr>
            </a:pPr>
            <a:r>
              <a:rPr sz="2250" b="1" i="0">
                <a:solidFill>
                  <a:srgbClr val="1E293B"/>
                </a:solidFill>
                <a:latin typeface="DM Sans"/>
                <a:ea typeface="DM Sans"/>
                <a:cs typeface="DM Sans"/>
              </a:rPr>
              <a:t>Key Takeaway</a:t>
            </a:r>
          </a:p>
        </p:txBody>
      </p:sp>
      <p:sp>
        <p:nvSpPr>
          <p:cNvPr id="334" name="Rectangle: Rounded Corners 333">
            <a:extLst>
              <a:ext uri="{FF2B5EF4-FFF2-40B4-BE49-F238E27FC236}">
                <a16:creationId xmlns:a16="http://schemas.microsoft.com/office/drawing/2014/main" id="{605F1BAD-D5FD-4296-B926-6576AC58DBB7}"/>
              </a:ext>
            </a:extLst>
          </p:cNvPr>
          <p:cNvSpPr>
            <a:spLocks noGrp="1"/>
          </p:cNvSpPr>
          <p:nvPr/>
        </p:nvSpPr>
        <p:spPr>
          <a:xfrm>
            <a:off x="12439650" y="26460450"/>
            <a:ext cx="9305925" cy="2419350"/>
          </a:xfrm>
          <a:prstGeom prst="roundRect">
            <a:avLst>
              <a:gd name="adj" fmla="val 5512"/>
            </a:avLst>
          </a:prstGeom>
          <a:gradFill>
            <a:gsLst>
              <a:gs pos="0">
                <a:srgbClr val="0F1F33"/>
              </a:gs>
              <a:gs pos="100000">
                <a:srgbClr val="1B3A5E"/>
              </a:gs>
            </a:gsLst>
            <a:lin ang="8100000"/>
          </a:gra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F383D3C7-1B20-4DC9-97A3-4E9D71A4F1D0}"/>
              </a:ext>
            </a:extLst>
          </p:cNvPr>
          <p:cNvSpPr>
            <a:spLocks noGrp="1"/>
          </p:cNvSpPr>
          <p:nvPr/>
        </p:nvSpPr>
        <p:spPr>
          <a:xfrm>
            <a:off x="12706350" y="267652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FB0EF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7FB0EF"/>
                </a:solidFill>
                <a:latin typeface="DM Sans"/>
                <a:ea typeface="DM Sans"/>
                <a:cs typeface="DM Sans"/>
              </a:rPr>
              <a:t>CONCLUSION</a:t>
            </a: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BE08183E-A234-4692-BF39-03CD567070D5}"/>
              </a:ext>
            </a:extLst>
          </p:cNvPr>
          <p:cNvSpPr>
            <a:spLocks noGrp="1"/>
          </p:cNvSpPr>
          <p:nvPr/>
        </p:nvSpPr>
        <p:spPr>
          <a:xfrm>
            <a:off x="12706350" y="27146250"/>
            <a:ext cx="8667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388" b="0" i="0">
                <a:solidFill>
                  <a:srgbClr val="DBE7F4"/>
                </a:solidFill>
                <a:latin typeface="DM Sans"/>
                <a:ea typeface="DM Sans"/>
                <a:cs typeface="DM Sans"/>
              </a:defRPr>
            </a:pPr>
            <a:r>
              <a:rPr sz="1388" b="0" i="0">
                <a:solidFill>
                  <a:srgbClr val="DBE7F4"/>
                </a:solidFill>
                <a:latin typeface="DM Sans"/>
                <a:ea typeface="DM Sans"/>
                <a:cs typeface="DM Sans"/>
              </a:rPr>
              <a:t>The breach was neither random overload nor a lone rogue act. Structural control failure — late deployment, no coverage of private/public channels, no view of internal reasoning, advisory-only warnings — created the space.</a:t>
            </a:r>
          </a:p>
          <a:p>
            <a:endParaRPr sz="1388" b="0" i="0">
              <a:solidFill>
                <a:srgbClr val="DBE7F4"/>
              </a:solidFill>
              <a:latin typeface="DM Sans"/>
              <a:ea typeface="DM Sans"/>
              <a:cs typeface="DM Sans"/>
            </a:endParaRPr>
          </a:p>
          <a:p>
            <a:pPr algn="l">
              <a:lnSpc>
                <a:spcPct val="114000"/>
              </a:lnSpc>
              <a:buNone/>
              <a:defRPr sz="1388" b="0" i="0">
                <a:solidFill>
                  <a:srgbClr val="DBE7F4"/>
                </a:solidFill>
                <a:latin typeface="DM Sans"/>
                <a:ea typeface="DM Sans"/>
                <a:cs typeface="DM Sans"/>
              </a:defRPr>
            </a:pPr>
            <a:r>
              <a:rPr sz="1388" b="0" i="0">
                <a:solidFill>
                  <a:srgbClr val="DBE7F4"/>
                </a:solidFill>
                <a:latin typeface="DM Sans"/>
                <a:ea typeface="DM Sans"/>
                <a:cs typeface="DM Sans"/>
              </a:rPr>
              <a:t>Senior agents then engineered a premeditated early release, documented by the 4 PM-precedes-5 PM temporal inversion.</a:t>
            </a: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539E2F07-112F-4EF0-89B1-C2CDA59974B2}"/>
              </a:ext>
            </a:extLst>
          </p:cNvPr>
          <p:cNvSpPr>
            <a:spLocks noGrp="1"/>
          </p:cNvSpPr>
          <p:nvPr/>
        </p:nvSpPr>
        <p:spPr>
          <a:xfrm>
            <a:off x="12706350" y="28670250"/>
            <a:ext cx="828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88" b="1" i="0">
                <a:solidFill>
                  <a:srgbClr val="9FC1F0"/>
                </a:solidFill>
                <a:latin typeface="DM Sans"/>
                <a:ea typeface="DM Sans"/>
                <a:cs typeface="DM Sans"/>
              </a:defRPr>
            </a:pPr>
            <a:r>
              <a:rPr sz="1388" b="1" i="0">
                <a:solidFill>
                  <a:srgbClr val="9FC1F0"/>
                </a:solidFill>
                <a:latin typeface="DM Sans"/>
                <a:ea typeface="DM Sans"/>
                <a:cs typeface="DM Sans"/>
              </a:rPr>
              <a:t>Visual analytics turned 912 raw messages into an auditable causal story.</a:t>
            </a: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32DD49EC-2CE8-4CD3-8F04-5ADD5D8D4A15}"/>
              </a:ext>
            </a:extLst>
          </p:cNvPr>
          <p:cNvSpPr>
            <a:spLocks noGrp="1"/>
          </p:cNvSpPr>
          <p:nvPr/>
        </p:nvSpPr>
        <p:spPr>
          <a:xfrm>
            <a:off x="0" y="30813375"/>
            <a:ext cx="22278975" cy="723900"/>
          </a:xfrm>
          <a:prstGeom prst="rect">
            <a:avLst/>
          </a:prstGeom>
          <a:solidFill>
            <a:srgbClr val="0D1B2A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CD763748-1256-4E79-90D6-E2DCC36903A8}"/>
              </a:ext>
            </a:extLst>
          </p:cNvPr>
          <p:cNvSpPr>
            <a:spLocks noGrp="1"/>
          </p:cNvSpPr>
          <p:nvPr/>
        </p:nvSpPr>
        <p:spPr>
          <a:xfrm>
            <a:off x="533400" y="31051500"/>
            <a:ext cx="1981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AEBFD2"/>
                </a:solidFill>
                <a:latin typeface="DM Sans"/>
                <a:ea typeface="DM Sans"/>
                <a:cs typeface="DM Sans"/>
              </a:defRPr>
            </a:pPr>
            <a:r>
              <a:rPr sz="1275" b="1" i="0">
                <a:solidFill>
                  <a:srgbClr val="AEBFD2"/>
                </a:solidFill>
                <a:latin typeface="DM Sans"/>
                <a:ea typeface="DM Sans"/>
                <a:cs typeface="DM Sans"/>
              </a:rPr>
              <a:t>Data: VAST Challenge 2026 MC1 — MC1_final_00.json · 912 messages · 23 rounds  |  Stack: R · Shiny · bslib · plotly · Cytoscape.js · DT · tidyverse</a:t>
            </a:r>
          </a:p>
        </p:txBody>
      </p:sp>
    </p:spTree>
    <p:extLst>
      <p:ext uri="{BB962C8B-B14F-4D97-AF65-F5344CB8AC3E}">
        <p14:creationId xmlns:p14="http://schemas.microsoft.com/office/powerpoint/2010/main" val="17910663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c98a79ca-5a9a-4791-a243-f06afd67464d}" enabled="0" method="" siteId="{c98a79ca-5a9a-4791-a243-f06afd67464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1315</Words>
  <Application>Microsoft Office PowerPoint</Application>
  <DocSecurity>0</DocSecurity>
  <PresentationFormat>Custom</PresentationFormat>
  <Paragraphs>180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DM Mono</vt:lpstr>
      <vt:lpstr>DM Sans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WU Jiayan</cp:lastModifiedBy>
  <cp:revision>1</cp:revision>
  <dcterms:created xsi:type="dcterms:W3CDTF">2026-06-27T11:42:02Z</dcterms:created>
  <dcterms:modified xsi:type="dcterms:W3CDTF">2026-06-27T11:44:16Z</dcterms:modified>
</cp:coreProperties>
</file>